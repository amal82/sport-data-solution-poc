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8" r:id="rId4"/>
    <p:sldId id="258" r:id="rId5"/>
    <p:sldId id="259" r:id="rId6"/>
    <p:sldId id="269" r:id="rId7"/>
    <p:sldId id="260" r:id="rId8"/>
    <p:sldId id="261" r:id="rId9"/>
    <p:sldId id="262" r:id="rId10"/>
    <p:sldId id="267" r:id="rId11"/>
    <p:sldId id="264" r:id="rId12"/>
    <p:sldId id="265" r:id="rId13"/>
    <p:sldId id="266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73853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A8C73"/>
          </a:solidFill>
          <a:ln w="12700">
            <a:solidFill>
              <a:srgbClr val="1A8C7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60959"/>
            <a:ext cx="1920240" cy="161543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74320" y="210312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3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— Avantages Sportifs</a:t>
            </a:r>
            <a:endParaRPr lang="fr-FR" sz="3000" noProof="0" dirty="0"/>
          </a:p>
        </p:txBody>
      </p:sp>
      <p:sp>
        <p:nvSpPr>
          <p:cNvPr id="5" name="Text 2"/>
          <p:cNvSpPr/>
          <p:nvPr/>
        </p:nvSpPr>
        <p:spPr>
          <a:xfrm>
            <a:off x="274320" y="2788920"/>
            <a:ext cx="6858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300" noProof="0" dirty="0">
                <a:solidFill>
                  <a:srgbClr val="7AAFC8"/>
                </a:solidFill>
              </a:rPr>
              <a:t>Pipeline de données automatisé · Calcul des primes · </a:t>
            </a:r>
            <a:r>
              <a:rPr lang="fr-FR" sz="1300" noProof="0" dirty="0" err="1">
                <a:solidFill>
                  <a:srgbClr val="7AAFC8"/>
                </a:solidFill>
              </a:rPr>
              <a:t>Reporting</a:t>
            </a:r>
            <a:r>
              <a:rPr lang="fr-FR" sz="1300" noProof="0" dirty="0">
                <a:solidFill>
                  <a:srgbClr val="7AAFC8"/>
                </a:solidFill>
              </a:rPr>
              <a:t> </a:t>
            </a:r>
            <a:r>
              <a:rPr lang="fr-FR" sz="1300" noProof="0" dirty="0" err="1">
                <a:solidFill>
                  <a:srgbClr val="7AAFC8"/>
                </a:solidFill>
              </a:rPr>
              <a:t>PowerBI</a:t>
            </a:r>
            <a:endParaRPr lang="fr-FR" sz="1300" noProof="0" dirty="0"/>
          </a:p>
        </p:txBody>
      </p:sp>
      <p:sp>
        <p:nvSpPr>
          <p:cNvPr id="6" name="Shape 3"/>
          <p:cNvSpPr/>
          <p:nvPr/>
        </p:nvSpPr>
        <p:spPr>
          <a:xfrm>
            <a:off x="274320" y="3218688"/>
            <a:ext cx="8595360" cy="0"/>
          </a:xfrm>
          <a:prstGeom prst="line">
            <a:avLst/>
          </a:prstGeom>
          <a:noFill/>
          <a:ln w="6350">
            <a:solidFill>
              <a:srgbClr val="2A4B6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7" name="Text 4"/>
          <p:cNvSpPr/>
          <p:nvPr/>
        </p:nvSpPr>
        <p:spPr>
          <a:xfrm>
            <a:off x="274320" y="33649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600" b="1" noProof="0" dirty="0">
                <a:solidFill>
                  <a:srgbClr val="1A8C73"/>
                </a:solidFill>
              </a:rPr>
              <a:t>161</a:t>
            </a:r>
            <a:endParaRPr lang="fr-FR" sz="2600" noProof="0" dirty="0"/>
          </a:p>
        </p:txBody>
      </p:sp>
      <p:sp>
        <p:nvSpPr>
          <p:cNvPr id="8" name="Text 5"/>
          <p:cNvSpPr/>
          <p:nvPr/>
        </p:nvSpPr>
        <p:spPr>
          <a:xfrm>
            <a:off x="274320" y="38587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noProof="0" dirty="0">
                <a:solidFill>
                  <a:srgbClr val="7AAFC8"/>
                </a:solidFill>
              </a:rPr>
              <a:t>salariés</a:t>
            </a:r>
            <a:endParaRPr lang="fr-FR" sz="1100" noProof="0" dirty="0"/>
          </a:p>
        </p:txBody>
      </p:sp>
      <p:sp>
        <p:nvSpPr>
          <p:cNvPr id="9" name="Text 6"/>
          <p:cNvSpPr/>
          <p:nvPr/>
        </p:nvSpPr>
        <p:spPr>
          <a:xfrm>
            <a:off x="2468880" y="33649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600" b="1" noProof="0" dirty="0">
                <a:solidFill>
                  <a:srgbClr val="1A8C73"/>
                </a:solidFill>
              </a:rPr>
              <a:t>5 %</a:t>
            </a:r>
            <a:endParaRPr lang="fr-FR" sz="2600" noProof="0" dirty="0"/>
          </a:p>
        </p:txBody>
      </p:sp>
      <p:sp>
        <p:nvSpPr>
          <p:cNvPr id="10" name="Text 7"/>
          <p:cNvSpPr/>
          <p:nvPr/>
        </p:nvSpPr>
        <p:spPr>
          <a:xfrm>
            <a:off x="2468880" y="38587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noProof="0" dirty="0">
                <a:solidFill>
                  <a:srgbClr val="7AAFC8"/>
                </a:solidFill>
              </a:rPr>
              <a:t>prime sport</a:t>
            </a:r>
            <a:endParaRPr lang="fr-FR" sz="1100" noProof="0" dirty="0"/>
          </a:p>
        </p:txBody>
      </p:sp>
      <p:sp>
        <p:nvSpPr>
          <p:cNvPr id="11" name="Text 8"/>
          <p:cNvSpPr/>
          <p:nvPr/>
        </p:nvSpPr>
        <p:spPr>
          <a:xfrm>
            <a:off x="4663440" y="33649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600" b="1" noProof="0" dirty="0">
                <a:solidFill>
                  <a:srgbClr val="1A8C73"/>
                </a:solidFill>
              </a:rPr>
              <a:t>5 j</a:t>
            </a:r>
            <a:endParaRPr lang="fr-FR" sz="2600" noProof="0" dirty="0"/>
          </a:p>
        </p:txBody>
      </p:sp>
      <p:sp>
        <p:nvSpPr>
          <p:cNvPr id="12" name="Text 9"/>
          <p:cNvSpPr/>
          <p:nvPr/>
        </p:nvSpPr>
        <p:spPr>
          <a:xfrm>
            <a:off x="4663440" y="38587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noProof="0" dirty="0">
                <a:solidFill>
                  <a:srgbClr val="7AAFC8"/>
                </a:solidFill>
              </a:rPr>
              <a:t>bien-être</a:t>
            </a:r>
            <a:endParaRPr lang="fr-FR" sz="1100" noProof="0" dirty="0"/>
          </a:p>
        </p:txBody>
      </p:sp>
      <p:sp>
        <p:nvSpPr>
          <p:cNvPr id="13" name="Text 10"/>
          <p:cNvSpPr/>
          <p:nvPr/>
        </p:nvSpPr>
        <p:spPr>
          <a:xfrm>
            <a:off x="6858000" y="33649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600" b="1" noProof="0" dirty="0">
                <a:solidFill>
                  <a:srgbClr val="1A8C73"/>
                </a:solidFill>
              </a:rPr>
              <a:t>≥ 15</a:t>
            </a:r>
            <a:endParaRPr lang="fr-FR" sz="2600" noProof="0" dirty="0"/>
          </a:p>
        </p:txBody>
      </p:sp>
      <p:sp>
        <p:nvSpPr>
          <p:cNvPr id="14" name="Text 11"/>
          <p:cNvSpPr/>
          <p:nvPr/>
        </p:nvSpPr>
        <p:spPr>
          <a:xfrm>
            <a:off x="6858000" y="38587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noProof="0" dirty="0">
                <a:solidFill>
                  <a:srgbClr val="7AAFC8"/>
                </a:solidFill>
              </a:rPr>
              <a:t>activités / an</a:t>
            </a:r>
            <a:endParaRPr lang="fr-FR" sz="1100" noProof="0" dirty="0"/>
          </a:p>
        </p:txBody>
      </p:sp>
      <p:sp>
        <p:nvSpPr>
          <p:cNvPr id="15" name="Text 12"/>
          <p:cNvSpPr/>
          <p:nvPr/>
        </p:nvSpPr>
        <p:spPr>
          <a:xfrm>
            <a:off x="8138160" y="48280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900" noProof="0" dirty="0">
                <a:solidFill>
                  <a:srgbClr val="6B7280"/>
                </a:solidFill>
              </a:rPr>
              <a:t>1 / 10</a:t>
            </a:r>
            <a:endParaRPr lang="fr-FR" sz="900" noProof="0" dirty="0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4DBCC9EA-A729-63F2-6C16-BF5AA96BA54A}"/>
              </a:ext>
            </a:extLst>
          </p:cNvPr>
          <p:cNvSpPr/>
          <p:nvPr/>
        </p:nvSpPr>
        <p:spPr>
          <a:xfrm>
            <a:off x="274320" y="4663440"/>
            <a:ext cx="6858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fr-FR" sz="1300" dirty="0">
                <a:solidFill>
                  <a:srgbClr val="7AAFC8"/>
                </a:solidFill>
              </a:rPr>
              <a:t>Réalisé </a:t>
            </a:r>
            <a:r>
              <a:rPr lang="fr-FR" sz="1300" noProof="0" dirty="0">
                <a:solidFill>
                  <a:srgbClr val="7AAFC8"/>
                </a:solidFill>
              </a:rPr>
              <a:t>par Amal Choukri</a:t>
            </a:r>
            <a:endParaRPr lang="fr-FR" sz="1300" dirty="0">
              <a:solidFill>
                <a:srgbClr val="7AAFC8"/>
              </a:solidFill>
            </a:endParaRPr>
          </a:p>
          <a:p>
            <a:r>
              <a:rPr lang="fr-FR" sz="1300" dirty="0">
                <a:solidFill>
                  <a:srgbClr val="7AAFC8"/>
                </a:solidFill>
              </a:rPr>
              <a:t>https://github.com/AMAL82/sport-data-solution-poc.git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Contexte &amp; mission</a:t>
            </a:r>
            <a:endParaRPr lang="en-US" sz="1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5720"/>
            <a:ext cx="640080" cy="5760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138160" y="48280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</a:rPr>
              <a:t>2 / 10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11480" y="804672"/>
            <a:ext cx="8321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E2B3C"/>
                </a:solidFill>
              </a:rPr>
              <a:t>Juliette, cofondatrice de Sport Data Solution, souhaite récompenser les salariés qui pratiquent une activité sportive régulière — que ce soit pour venir au bureau ou en dehors.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11480" y="14813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</a:rPr>
              <a:t>3 questions à résoudre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11480" y="1847088"/>
            <a:ext cx="51206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411480" y="1847088"/>
            <a:ext cx="347472" cy="640080"/>
          </a:xfrm>
          <a:prstGeom prst="rect">
            <a:avLst/>
          </a:prstGeom>
          <a:solidFill>
            <a:srgbClr val="1A8C73"/>
          </a:solidFill>
          <a:ln w="12700">
            <a:solidFill>
              <a:srgbClr val="1A8C7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411480" y="1847088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77824" y="1938528"/>
            <a:ext cx="4535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B3C"/>
                </a:solidFill>
              </a:rPr>
              <a:t>Est-</a:t>
            </a:r>
            <a:r>
              <a:rPr lang="en-US" sz="1200" b="1" dirty="0" err="1">
                <a:solidFill>
                  <a:srgbClr val="1E2B3C"/>
                </a:solidFill>
              </a:rPr>
              <a:t>ce</a:t>
            </a:r>
            <a:r>
              <a:rPr lang="en-US" sz="1200" b="1" dirty="0">
                <a:solidFill>
                  <a:srgbClr val="1E2B3C"/>
                </a:solidFill>
              </a:rPr>
              <a:t> faisable techniquement ?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77824" y="2212848"/>
            <a:ext cx="4535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</a:rPr>
              <a:t>Collecter, fiabiliser et calculer automatiquement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11480" y="2596896"/>
            <a:ext cx="51206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1"/>
          <p:cNvSpPr/>
          <p:nvPr/>
        </p:nvSpPr>
        <p:spPr>
          <a:xfrm>
            <a:off x="411480" y="2596896"/>
            <a:ext cx="347472" cy="640080"/>
          </a:xfrm>
          <a:prstGeom prst="rect">
            <a:avLst/>
          </a:prstGeom>
          <a:solidFill>
            <a:srgbClr val="1A8C73"/>
          </a:solidFill>
          <a:ln w="12700">
            <a:solidFill>
              <a:srgbClr val="1A8C7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411480" y="2596896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77824" y="2688336"/>
            <a:ext cx="4535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B3C"/>
                </a:solidFill>
              </a:rPr>
              <a:t>Quelles données recueillir ?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77824" y="2962656"/>
            <a:ext cx="4535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</a:rPr>
              <a:t>RH, activités sportives, </a:t>
            </a:r>
            <a:r>
              <a:rPr lang="en-US" sz="1000" dirty="0" err="1">
                <a:solidFill>
                  <a:srgbClr val="6B7280"/>
                </a:solidFill>
              </a:rPr>
              <a:t>trajets</a:t>
            </a:r>
            <a:r>
              <a:rPr lang="en-US" sz="1000" dirty="0">
                <a:solidFill>
                  <a:srgbClr val="6B7280"/>
                </a:solidFill>
              </a:rPr>
              <a:t> domicile-bureau,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11480" y="3346704"/>
            <a:ext cx="51206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Shape 16"/>
          <p:cNvSpPr/>
          <p:nvPr/>
        </p:nvSpPr>
        <p:spPr>
          <a:xfrm>
            <a:off x="411480" y="3346704"/>
            <a:ext cx="347472" cy="640080"/>
          </a:xfrm>
          <a:prstGeom prst="rect">
            <a:avLst/>
          </a:prstGeom>
          <a:solidFill>
            <a:srgbClr val="1A8C73"/>
          </a:solidFill>
          <a:ln w="12700">
            <a:solidFill>
              <a:srgbClr val="1A8C7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411480" y="3346704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77824" y="3438144"/>
            <a:ext cx="4535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B3C"/>
                </a:solidFill>
              </a:rPr>
              <a:t>Quel est l'impact financier ?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77824" y="3712464"/>
            <a:ext cx="4535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</a:rPr>
              <a:t>Coût des primes et jours bien-être pour l'entreprise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852160" y="14813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</a:rPr>
              <a:t>Les 2 avantages étudiés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852160" y="1847088"/>
            <a:ext cx="29260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22"/>
          <p:cNvSpPr/>
          <p:nvPr/>
        </p:nvSpPr>
        <p:spPr>
          <a:xfrm>
            <a:off x="5852160" y="1847088"/>
            <a:ext cx="2926080" cy="292608"/>
          </a:xfrm>
          <a:prstGeom prst="rect">
            <a:avLst/>
          </a:prstGeom>
          <a:solidFill>
            <a:srgbClr val="C98B2A"/>
          </a:solidFill>
          <a:ln w="12700">
            <a:solidFill>
              <a:srgbClr val="C98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5852160" y="184708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Prime sportive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852160" y="21945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8B2A"/>
                </a:solidFill>
              </a:rPr>
              <a:t>5 %</a:t>
            </a:r>
            <a:endParaRPr lang="en-US" sz="3000" dirty="0"/>
          </a:p>
        </p:txBody>
      </p:sp>
      <p:sp>
        <p:nvSpPr>
          <p:cNvPr id="28" name="Text 25"/>
          <p:cNvSpPr/>
          <p:nvPr/>
        </p:nvSpPr>
        <p:spPr>
          <a:xfrm>
            <a:off x="5852160" y="26700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</a:rPr>
              <a:t>du salaire brut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</a:rPr>
              <a:t>pour trajet actif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852160" y="3218688"/>
            <a:ext cx="29260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0" name="Shape 27"/>
          <p:cNvSpPr/>
          <p:nvPr/>
        </p:nvSpPr>
        <p:spPr>
          <a:xfrm>
            <a:off x="5852160" y="3218688"/>
            <a:ext cx="2926080" cy="292608"/>
          </a:xfrm>
          <a:prstGeom prst="rect">
            <a:avLst/>
          </a:prstGeom>
          <a:solidFill>
            <a:srgbClr val="1A8C73"/>
          </a:solidFill>
          <a:ln w="12700">
            <a:solidFill>
              <a:srgbClr val="1A8C7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8"/>
          <p:cNvSpPr/>
          <p:nvPr/>
        </p:nvSpPr>
        <p:spPr>
          <a:xfrm>
            <a:off x="5852160" y="321868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Jours bien-être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852160" y="35661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8C73"/>
                </a:solidFill>
              </a:rPr>
              <a:t>5 j</a:t>
            </a:r>
            <a:endParaRPr lang="en-US" sz="3000" dirty="0"/>
          </a:p>
        </p:txBody>
      </p:sp>
      <p:sp>
        <p:nvSpPr>
          <p:cNvPr id="33" name="Text 30"/>
          <p:cNvSpPr/>
          <p:nvPr/>
        </p:nvSpPr>
        <p:spPr>
          <a:xfrm>
            <a:off x="5852160" y="40416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</a:rPr>
              <a:t>pour ≥ 15 activités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</a:rPr>
              <a:t>sur 12 mois</a:t>
            </a:r>
            <a:endParaRPr lang="en-US" sz="1000" dirty="0"/>
          </a:p>
        </p:txBody>
      </p:sp>
      <p:sp>
        <p:nvSpPr>
          <p:cNvPr id="34" name="Shape 20">
            <a:extLst>
              <a:ext uri="{FF2B5EF4-FFF2-40B4-BE49-F238E27FC236}">
                <a16:creationId xmlns:a16="http://schemas.microsoft.com/office/drawing/2014/main" id="{9169037C-F9B2-9F66-7915-57225207D5BD}"/>
              </a:ext>
            </a:extLst>
          </p:cNvPr>
          <p:cNvSpPr/>
          <p:nvPr/>
        </p:nvSpPr>
        <p:spPr>
          <a:xfrm>
            <a:off x="411480" y="4133088"/>
            <a:ext cx="5120640" cy="694944"/>
          </a:xfrm>
          <a:prstGeom prst="rect">
            <a:avLst/>
          </a:prstGeom>
          <a:solidFill>
            <a:srgbClr val="EAF3FB"/>
          </a:solidFill>
          <a:ln w="6350">
            <a:solidFill>
              <a:srgbClr val="B8D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Shape 21">
            <a:extLst>
              <a:ext uri="{FF2B5EF4-FFF2-40B4-BE49-F238E27FC236}">
                <a16:creationId xmlns:a16="http://schemas.microsoft.com/office/drawing/2014/main" id="{02E9FA01-0B46-D3D1-FA75-1839A61E1C19}"/>
              </a:ext>
            </a:extLst>
          </p:cNvPr>
          <p:cNvSpPr/>
          <p:nvPr/>
        </p:nvSpPr>
        <p:spPr>
          <a:xfrm>
            <a:off x="411480" y="4133088"/>
            <a:ext cx="347472" cy="694944"/>
          </a:xfrm>
          <a:prstGeom prst="rect">
            <a:avLst/>
          </a:prstGeom>
          <a:solidFill>
            <a:srgbClr val="1D7EC4"/>
          </a:solidFill>
          <a:ln w="12700">
            <a:solidFill>
              <a:srgbClr val="1D7E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22">
            <a:extLst>
              <a:ext uri="{FF2B5EF4-FFF2-40B4-BE49-F238E27FC236}">
                <a16:creationId xmlns:a16="http://schemas.microsoft.com/office/drawing/2014/main" id="{0321B5D6-F369-C65F-B0F2-9065506AC453}"/>
              </a:ext>
            </a:extLst>
          </p:cNvPr>
          <p:cNvSpPr/>
          <p:nvPr/>
        </p:nvSpPr>
        <p:spPr>
          <a:xfrm>
            <a:off x="411480" y="4133088"/>
            <a:ext cx="3474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🔒</a:t>
            </a:r>
            <a:endParaRPr lang="en-US" sz="1400" dirty="0"/>
          </a:p>
        </p:txBody>
      </p:sp>
      <p:sp>
        <p:nvSpPr>
          <p:cNvPr id="37" name="Text 23">
            <a:extLst>
              <a:ext uri="{FF2B5EF4-FFF2-40B4-BE49-F238E27FC236}">
                <a16:creationId xmlns:a16="http://schemas.microsoft.com/office/drawing/2014/main" id="{0B244E7F-99F4-B9FE-A1BB-F272B749D00B}"/>
              </a:ext>
            </a:extLst>
          </p:cNvPr>
          <p:cNvSpPr/>
          <p:nvPr/>
        </p:nvSpPr>
        <p:spPr>
          <a:xfrm>
            <a:off x="877824" y="4197096"/>
            <a:ext cx="4535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b="1" dirty="0">
                <a:solidFill>
                  <a:srgbClr val="1D7EC4"/>
                </a:solidFill>
              </a:rPr>
              <a:t>RGPD</a:t>
            </a:r>
            <a:endParaRPr lang="en-US" sz="1200" dirty="0"/>
          </a:p>
        </p:txBody>
      </p:sp>
      <p:sp>
        <p:nvSpPr>
          <p:cNvPr id="38" name="Text 24">
            <a:extLst>
              <a:ext uri="{FF2B5EF4-FFF2-40B4-BE49-F238E27FC236}">
                <a16:creationId xmlns:a16="http://schemas.microsoft.com/office/drawing/2014/main" id="{BE4CDAED-BD93-8005-FE2D-12FAA2020115}"/>
              </a:ext>
            </a:extLst>
          </p:cNvPr>
          <p:cNvSpPr/>
          <p:nvPr/>
        </p:nvSpPr>
        <p:spPr>
          <a:xfrm>
            <a:off x="877824" y="4453128"/>
            <a:ext cx="4535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Données RH sensibles — anonymisation Slack · secrets en variables d'env · aucune donnée personnelle dans les logs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/>
          <p:nvPr/>
        </p:nvSpPr>
        <p:spPr>
          <a:xfrm>
            <a:off x="320040" y="274638"/>
            <a:ext cx="8503920" cy="4800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>
              <a:buNone/>
            </a:pPr>
            <a:r>
              <a:rPr lang="fr-FR" sz="2800" b="1" dirty="0">
                <a:solidFill>
                  <a:srgbClr val="1A2F4A"/>
                </a:solidFill>
              </a:rPr>
              <a:t>Choix techniques</a:t>
            </a:r>
          </a:p>
        </p:txBody>
      </p:sp>
      <p:sp>
        <p:nvSpPr>
          <p:cNvPr id="3" name="SousTitre"/>
          <p:cNvSpPr/>
          <p:nvPr/>
        </p:nvSpPr>
        <p:spPr>
          <a:xfrm>
            <a:off x="320040" y="754698"/>
            <a:ext cx="8503920" cy="260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>
              <a:buNone/>
            </a:pPr>
            <a:r>
              <a:rPr lang="fr-FR" sz="1400" dirty="0">
                <a:solidFill>
                  <a:srgbClr val="1A8C73"/>
                </a:solidFill>
              </a:rPr>
              <a:t>Chaque outil choisi pour une raison précise</a:t>
            </a:r>
          </a:p>
        </p:txBody>
      </p:sp>
      <p:sp>
        <p:nvSpPr>
          <p:cNvPr id="10" name="Card1"/>
          <p:cNvSpPr/>
          <p:nvPr/>
        </p:nvSpPr>
        <p:spPr>
          <a:xfrm>
            <a:off x="320040" y="1100000"/>
            <a:ext cx="2600000" cy="62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8C73"/>
            </a:solidFill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fr-FR" sz="1400" b="1" dirty="0">
                <a:solidFill>
                  <a:srgbClr val="1A2F4A"/>
                </a:solidFill>
              </a:rPr>
              <a:t>DuckDB</a:t>
            </a:r>
          </a:p>
          <a:p>
            <a:pPr algn="l">
              <a:buNone/>
            </a:pPr>
            <a:r>
              <a:rPr lang="fr-FR" sz="1100" dirty="0">
                <a:solidFill>
                  <a:srgbClr val="444444"/>
                </a:solidFill>
              </a:rPr>
              <a:t>Zéro infra, SQL complet, embarqué. Migrable vers PostgreSQL en prod.</a:t>
            </a:r>
          </a:p>
        </p:txBody>
      </p:sp>
      <p:sp>
        <p:nvSpPr>
          <p:cNvPr id="11" name="Card2"/>
          <p:cNvSpPr/>
          <p:nvPr/>
        </p:nvSpPr>
        <p:spPr>
          <a:xfrm>
            <a:off x="320040" y="1780000"/>
            <a:ext cx="2600000" cy="62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8C73"/>
            </a:solidFill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fr-FR" sz="1400" b="1" dirty="0">
                <a:solidFill>
                  <a:srgbClr val="1A2F4A"/>
                </a:solidFill>
              </a:rPr>
              <a:t>Kestra</a:t>
            </a:r>
          </a:p>
          <a:p>
            <a:pPr algn="l">
              <a:buNone/>
            </a:pPr>
            <a:r>
              <a:rPr lang="fr-FR" sz="1100" dirty="0">
                <a:solidFill>
                  <a:srgbClr val="444444"/>
                </a:solidFill>
              </a:rPr>
              <a:t>Orchestration YAML natif, UI moderne, plus simple qu’Airflow pour un POC.</a:t>
            </a:r>
          </a:p>
        </p:txBody>
      </p:sp>
      <p:sp>
        <p:nvSpPr>
          <p:cNvPr id="12" name="Card3"/>
          <p:cNvSpPr/>
          <p:nvPr/>
        </p:nvSpPr>
        <p:spPr>
          <a:xfrm>
            <a:off x="320040" y="2459999"/>
            <a:ext cx="2600000" cy="782603"/>
          </a:xfrm>
          <a:prstGeom prst="rect">
            <a:avLst/>
          </a:prstGeom>
          <a:solidFill>
            <a:srgbClr val="F0F4F8"/>
          </a:solidFill>
          <a:ln w="12700">
            <a:solidFill>
              <a:srgbClr val="1A8C73"/>
            </a:solidFill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fr-FR" sz="1400" b="1" dirty="0">
                <a:solidFill>
                  <a:srgbClr val="1A2F4A"/>
                </a:solidFill>
              </a:rPr>
              <a:t>Docker Compose</a:t>
            </a:r>
          </a:p>
          <a:p>
            <a:pPr algn="l">
              <a:buNone/>
            </a:pPr>
            <a:r>
              <a:rPr lang="fr-FR" sz="1100" dirty="0">
                <a:solidFill>
                  <a:srgbClr val="444444"/>
                </a:solidFill>
              </a:rPr>
              <a:t>Déploiement local en 1 commande. Kestra, Redpanda et Spark prêts immédiatement.</a:t>
            </a:r>
          </a:p>
        </p:txBody>
      </p:sp>
      <p:sp>
        <p:nvSpPr>
          <p:cNvPr id="13" name="Card4"/>
          <p:cNvSpPr/>
          <p:nvPr/>
        </p:nvSpPr>
        <p:spPr>
          <a:xfrm>
            <a:off x="3060040" y="1100000"/>
            <a:ext cx="2600000" cy="62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E8A020"/>
            </a:solidFill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fr-FR" sz="1400" b="1" dirty="0">
                <a:solidFill>
                  <a:srgbClr val="1A2F4A"/>
                </a:solidFill>
              </a:rPr>
              <a:t>Redpanda</a:t>
            </a:r>
          </a:p>
          <a:p>
            <a:pPr algn="l">
              <a:buNone/>
            </a:pPr>
            <a:r>
              <a:rPr lang="fr-FR" sz="1100" dirty="0">
                <a:solidFill>
                  <a:srgbClr val="444444"/>
                </a:solidFill>
              </a:rPr>
              <a:t>Compatible API Kafka, sans ZooKeeper. Plus léger à déployer localement.</a:t>
            </a:r>
          </a:p>
        </p:txBody>
      </p:sp>
      <p:sp>
        <p:nvSpPr>
          <p:cNvPr id="14" name="Card5"/>
          <p:cNvSpPr/>
          <p:nvPr/>
        </p:nvSpPr>
        <p:spPr>
          <a:xfrm>
            <a:off x="3060040" y="1780000"/>
            <a:ext cx="2600000" cy="62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E8A020"/>
            </a:solidFill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fr-FR" sz="1400" b="1" dirty="0">
                <a:solidFill>
                  <a:srgbClr val="1A2F4A"/>
                </a:solidFill>
              </a:rPr>
              <a:t>Spark Structured Streaming</a:t>
            </a:r>
          </a:p>
          <a:p>
            <a:pPr algn="l">
              <a:buNone/>
            </a:pPr>
            <a:r>
              <a:rPr lang="fr-FR" sz="1100" dirty="0">
                <a:solidFill>
                  <a:srgbClr val="444444"/>
                </a:solidFill>
              </a:rPr>
              <a:t>Standard industrie pour le traitement de flux. Scalable en production.</a:t>
            </a:r>
          </a:p>
        </p:txBody>
      </p:sp>
      <p:sp>
        <p:nvSpPr>
          <p:cNvPr id="15" name="Card6"/>
          <p:cNvSpPr/>
          <p:nvPr/>
        </p:nvSpPr>
        <p:spPr>
          <a:xfrm>
            <a:off x="3060040" y="2460000"/>
            <a:ext cx="2600000" cy="782602"/>
          </a:xfrm>
          <a:prstGeom prst="rect">
            <a:avLst/>
          </a:prstGeom>
          <a:solidFill>
            <a:srgbClr val="F0F4F8"/>
          </a:solidFill>
          <a:ln w="12700">
            <a:solidFill>
              <a:srgbClr val="E8A020"/>
            </a:solidFill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fr-FR" sz="1400" b="1" dirty="0">
                <a:solidFill>
                  <a:srgbClr val="1A2F4A"/>
                </a:solidFill>
              </a:rPr>
              <a:t>Slack Webhook</a:t>
            </a:r>
          </a:p>
          <a:p>
            <a:pPr algn="l">
              <a:buNone/>
            </a:pPr>
            <a:r>
              <a:rPr lang="fr-FR" sz="1100" dirty="0">
                <a:solidFill>
                  <a:srgbClr val="444444"/>
                </a:solidFill>
              </a:rPr>
              <a:t>Sans OAuth, rapide à intégrer. Idéal pour les notifications temps réel en POC.</a:t>
            </a:r>
          </a:p>
        </p:txBody>
      </p:sp>
      <p:sp>
        <p:nvSpPr>
          <p:cNvPr id="16" name="Card7"/>
          <p:cNvSpPr/>
          <p:nvPr/>
        </p:nvSpPr>
        <p:spPr>
          <a:xfrm>
            <a:off x="5800040" y="1100000"/>
            <a:ext cx="3023920" cy="62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2F4A"/>
            </a:solidFill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fr-FR" sz="1400" b="1" dirty="0">
                <a:solidFill>
                  <a:srgbClr val="1A2F4A"/>
                </a:solidFill>
              </a:rPr>
              <a:t>Power BI</a:t>
            </a:r>
          </a:p>
          <a:p>
            <a:pPr algn="l">
              <a:buNone/>
            </a:pPr>
            <a:r>
              <a:rPr lang="fr-FR" sz="1100" dirty="0">
                <a:solidFill>
                  <a:srgbClr val="444444"/>
                </a:solidFill>
              </a:rPr>
              <a:t>Demandé explicitement par Juliette. Rechargement en 1 clic après chaque rejeu.</a:t>
            </a:r>
          </a:p>
        </p:txBody>
      </p:sp>
      <p:sp>
        <p:nvSpPr>
          <p:cNvPr id="17" name="Card8"/>
          <p:cNvSpPr/>
          <p:nvPr/>
        </p:nvSpPr>
        <p:spPr>
          <a:xfrm>
            <a:off x="5800040" y="1780000"/>
            <a:ext cx="3023920" cy="62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2F4A"/>
            </a:solidFill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fr-FR" sz="1400" b="1" dirty="0">
                <a:solidFill>
                  <a:srgbClr val="1A2F4A"/>
                </a:solidFill>
              </a:rPr>
              <a:t>Python + Faker</a:t>
            </a:r>
          </a:p>
          <a:p>
            <a:pPr algn="l">
              <a:buNone/>
            </a:pPr>
            <a:r>
              <a:rPr lang="fr-FR" sz="1100" dirty="0">
                <a:solidFill>
                  <a:srgbClr val="444444"/>
                </a:solidFill>
              </a:rPr>
              <a:t>Langage unique pour toute la chaîne. Faker génère des données sportives réalistes.</a:t>
            </a:r>
          </a:p>
        </p:txBody>
      </p:sp>
      <p:sp>
        <p:nvSpPr>
          <p:cNvPr id="18" name="Card9"/>
          <p:cNvSpPr/>
          <p:nvPr/>
        </p:nvSpPr>
        <p:spPr>
          <a:xfrm>
            <a:off x="5800040" y="2460000"/>
            <a:ext cx="3023920" cy="782602"/>
          </a:xfrm>
          <a:prstGeom prst="rect">
            <a:avLst/>
          </a:prstGeom>
          <a:solidFill>
            <a:srgbClr val="F0F4F8"/>
          </a:solidFill>
          <a:ln w="12700">
            <a:solidFill>
              <a:srgbClr val="1A2F4A"/>
            </a:solidFill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fr-FR" sz="1400" b="1" dirty="0">
                <a:solidFill>
                  <a:srgbClr val="1A2F4A"/>
                </a:solidFill>
              </a:rPr>
              <a:t>Loguru</a:t>
            </a:r>
          </a:p>
          <a:p>
            <a:pPr algn="l">
              <a:buNone/>
            </a:pPr>
            <a:r>
              <a:rPr lang="fr-FR" sz="1100" dirty="0">
                <a:solidFill>
                  <a:srgbClr val="444444"/>
                </a:solidFill>
              </a:rPr>
              <a:t>Logs lisibles et horodatés à chaque étape du pipeline. Audit log persisté en base.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Architecture technique</a:t>
            </a:r>
            <a:endParaRPr lang="en-US" sz="18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5720"/>
            <a:ext cx="640080" cy="5760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38160" y="48280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</a:rPr>
              <a:t>3 / 10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20040" y="822960"/>
            <a:ext cx="1353312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320040" y="822960"/>
            <a:ext cx="1353312" cy="274320"/>
          </a:xfrm>
          <a:prstGeom prst="rect">
            <a:avLst/>
          </a:prstGeom>
          <a:solidFill>
            <a:srgbClr val="1D7EC4"/>
          </a:solidFill>
          <a:ln w="12700">
            <a:solidFill>
              <a:srgbClr val="1D7E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320040" y="82296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74904" y="115214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B3C"/>
                </a:solidFill>
              </a:rPr>
              <a:t>Excel RH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374904" y="1481328"/>
            <a:ext cx="1243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Ingestion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DuckDB Bronze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1728216" y="822960"/>
            <a:ext cx="1353312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1"/>
          <p:cNvSpPr/>
          <p:nvPr/>
        </p:nvSpPr>
        <p:spPr>
          <a:xfrm>
            <a:off x="1728216" y="822960"/>
            <a:ext cx="1353312" cy="274320"/>
          </a:xfrm>
          <a:prstGeom prst="rect">
            <a:avLst/>
          </a:prstGeom>
          <a:solidFill>
            <a:srgbClr val="1A8C73"/>
          </a:solidFill>
          <a:ln w="12700">
            <a:solidFill>
              <a:srgbClr val="1A8C7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1728216" y="82296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783080" y="115214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B3C"/>
                </a:solidFill>
              </a:rPr>
              <a:t>Activités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783080" y="1481328"/>
            <a:ext cx="1243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Simulation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Faker / Strava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136392" y="822960"/>
            <a:ext cx="1353312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7"/>
          <p:cNvSpPr/>
          <p:nvPr/>
        </p:nvSpPr>
        <p:spPr>
          <a:xfrm>
            <a:off x="3136392" y="822960"/>
            <a:ext cx="1353312" cy="274320"/>
          </a:xfrm>
          <a:prstGeom prst="rect">
            <a:avLst/>
          </a:prstGeom>
          <a:solidFill>
            <a:srgbClr val="C98B2A"/>
          </a:solidFill>
          <a:ln w="12700">
            <a:solidFill>
              <a:srgbClr val="C98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8"/>
          <p:cNvSpPr/>
          <p:nvPr/>
        </p:nvSpPr>
        <p:spPr>
          <a:xfrm>
            <a:off x="3136392" y="82296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191256" y="115214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B3C"/>
                </a:solidFill>
              </a:rPr>
              <a:t>Qualité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3191256" y="1481328"/>
            <a:ext cx="1243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fr-FR" sz="950" dirty="0">
                <a:solidFill>
                  <a:srgbClr val="6B7280"/>
                </a:solidFill>
              </a:rPr>
              <a:t>Données douteuses</a:t>
            </a:r>
          </a:p>
          <a:p>
            <a:pPr algn="ctr"/>
            <a:r>
              <a:rPr lang="en-US" sz="950" dirty="0">
                <a:solidFill>
                  <a:srgbClr val="6B7280"/>
                </a:solidFill>
              </a:rPr>
              <a:t>(distances, dates…)</a:t>
            </a:r>
          </a:p>
        </p:txBody>
      </p:sp>
      <p:sp>
        <p:nvSpPr>
          <p:cNvPr id="25" name="Shape 22"/>
          <p:cNvSpPr/>
          <p:nvPr/>
        </p:nvSpPr>
        <p:spPr>
          <a:xfrm>
            <a:off x="4544568" y="822960"/>
            <a:ext cx="1353312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23"/>
          <p:cNvSpPr/>
          <p:nvPr/>
        </p:nvSpPr>
        <p:spPr>
          <a:xfrm>
            <a:off x="4544568" y="822960"/>
            <a:ext cx="1353312" cy="2743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4"/>
          <p:cNvSpPr/>
          <p:nvPr/>
        </p:nvSpPr>
        <p:spPr>
          <a:xfrm>
            <a:off x="4544568" y="82296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4599432" y="115214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B3C"/>
                </a:solidFill>
              </a:rPr>
              <a:t>Règles métier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4599432" y="1481328"/>
            <a:ext cx="1243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Prime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Bien-être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952744" y="822960"/>
            <a:ext cx="1353312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2" name="Shape 29"/>
          <p:cNvSpPr/>
          <p:nvPr/>
        </p:nvSpPr>
        <p:spPr>
          <a:xfrm>
            <a:off x="5952744" y="822960"/>
            <a:ext cx="1353312" cy="274320"/>
          </a:xfrm>
          <a:prstGeom prst="rect">
            <a:avLst/>
          </a:prstGeom>
          <a:solidFill>
            <a:srgbClr val="1A8C73"/>
          </a:solidFill>
          <a:ln w="12700">
            <a:solidFill>
              <a:srgbClr val="1A8C7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0"/>
          <p:cNvSpPr/>
          <p:nvPr/>
        </p:nvSpPr>
        <p:spPr>
          <a:xfrm>
            <a:off x="5952744" y="82296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007608" y="115214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B3C"/>
                </a:solidFill>
              </a:rPr>
              <a:t>Gold / KPI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6007608" y="1481328"/>
            <a:ext cx="1243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Financiers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Sportifs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7360920" y="822960"/>
            <a:ext cx="1353312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8" name="Shape 35"/>
          <p:cNvSpPr/>
          <p:nvPr/>
        </p:nvSpPr>
        <p:spPr>
          <a:xfrm>
            <a:off x="7360920" y="822960"/>
            <a:ext cx="1353312" cy="274320"/>
          </a:xfrm>
          <a:prstGeom prst="rect">
            <a:avLst/>
          </a:prstGeom>
          <a:solidFill>
            <a:srgbClr val="F2C811"/>
          </a:solidFill>
          <a:ln w="12700">
            <a:solidFill>
              <a:srgbClr val="F2C81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Text 36"/>
          <p:cNvSpPr/>
          <p:nvPr/>
        </p:nvSpPr>
        <p:spPr>
          <a:xfrm>
            <a:off x="7360920" y="82296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7415784" y="115214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B3C"/>
                </a:solidFill>
              </a:rPr>
              <a:t>PowerBI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7415784" y="1481328"/>
            <a:ext cx="1243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3 pages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de reporting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320040" y="2395728"/>
            <a:ext cx="8503920" cy="0"/>
          </a:xfrm>
          <a:prstGeom prst="line">
            <a:avLst/>
          </a:prstGeom>
          <a:noFill/>
          <a:ln w="635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Shape 40"/>
          <p:cNvSpPr/>
          <p:nvPr/>
        </p:nvSpPr>
        <p:spPr>
          <a:xfrm>
            <a:off x="320040" y="2542032"/>
            <a:ext cx="54864" cy="402336"/>
          </a:xfrm>
          <a:prstGeom prst="rect">
            <a:avLst/>
          </a:prstGeom>
          <a:solidFill>
            <a:srgbClr val="1A8C73"/>
          </a:solidFill>
          <a:ln w="12700">
            <a:solidFill>
              <a:srgbClr val="1A8C7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1"/>
          <p:cNvSpPr/>
          <p:nvPr/>
        </p:nvSpPr>
        <p:spPr>
          <a:xfrm>
            <a:off x="448056" y="255117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</a:rPr>
              <a:t>Entrepôt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448056" y="274320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B3C"/>
                </a:solidFill>
              </a:rPr>
              <a:t>DuckDB 1.1</a:t>
            </a:r>
            <a:endParaRPr lang="en-US" sz="1150" dirty="0"/>
          </a:p>
        </p:txBody>
      </p:sp>
      <p:sp>
        <p:nvSpPr>
          <p:cNvPr id="46" name="Shape 43"/>
          <p:cNvSpPr/>
          <p:nvPr/>
        </p:nvSpPr>
        <p:spPr>
          <a:xfrm>
            <a:off x="3172968" y="2542032"/>
            <a:ext cx="54864" cy="402336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Text 44"/>
          <p:cNvSpPr/>
          <p:nvPr/>
        </p:nvSpPr>
        <p:spPr>
          <a:xfrm>
            <a:off x="3300984" y="255117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</a:rPr>
              <a:t>Orchestration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3300984" y="274320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B3C"/>
                </a:solidFill>
              </a:rPr>
              <a:t>Kestra (4 flows)</a:t>
            </a:r>
            <a:endParaRPr lang="en-US" sz="1150" dirty="0"/>
          </a:p>
        </p:txBody>
      </p:sp>
      <p:sp>
        <p:nvSpPr>
          <p:cNvPr id="49" name="Shape 46"/>
          <p:cNvSpPr/>
          <p:nvPr/>
        </p:nvSpPr>
        <p:spPr>
          <a:xfrm>
            <a:off x="6025896" y="2542032"/>
            <a:ext cx="54864" cy="402336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Text 47"/>
          <p:cNvSpPr/>
          <p:nvPr/>
        </p:nvSpPr>
        <p:spPr>
          <a:xfrm>
            <a:off x="6153912" y="255117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</a:rPr>
              <a:t>Streaming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6153912" y="274320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B3C"/>
                </a:solidFill>
              </a:rPr>
              <a:t>Redpanda + Spark</a:t>
            </a:r>
            <a:endParaRPr lang="en-US" sz="1150" dirty="0"/>
          </a:p>
        </p:txBody>
      </p:sp>
      <p:sp>
        <p:nvSpPr>
          <p:cNvPr id="52" name="Shape 49"/>
          <p:cNvSpPr/>
          <p:nvPr/>
        </p:nvSpPr>
        <p:spPr>
          <a:xfrm>
            <a:off x="320040" y="3108960"/>
            <a:ext cx="54864" cy="402336"/>
          </a:xfrm>
          <a:prstGeom prst="rect">
            <a:avLst/>
          </a:prstGeom>
          <a:solidFill>
            <a:srgbClr val="4A154B"/>
          </a:solidFill>
          <a:ln w="12700">
            <a:solidFill>
              <a:srgbClr val="4A154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3" name="Text 50"/>
          <p:cNvSpPr/>
          <p:nvPr/>
        </p:nvSpPr>
        <p:spPr>
          <a:xfrm>
            <a:off x="448056" y="311810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</a:rPr>
              <a:t>Notifications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448056" y="331012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B3C"/>
                </a:solidFill>
              </a:rPr>
              <a:t>Slack Webhook</a:t>
            </a:r>
            <a:endParaRPr lang="en-US" sz="1150" dirty="0"/>
          </a:p>
        </p:txBody>
      </p:sp>
      <p:sp>
        <p:nvSpPr>
          <p:cNvPr id="55" name="Shape 52"/>
          <p:cNvSpPr/>
          <p:nvPr/>
        </p:nvSpPr>
        <p:spPr>
          <a:xfrm>
            <a:off x="3172968" y="3108960"/>
            <a:ext cx="54864" cy="402336"/>
          </a:xfrm>
          <a:prstGeom prst="rect">
            <a:avLst/>
          </a:prstGeom>
          <a:solidFill>
            <a:srgbClr val="F2C811"/>
          </a:solidFill>
          <a:ln w="12700">
            <a:solidFill>
              <a:srgbClr val="F2C81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6" name="Text 53"/>
          <p:cNvSpPr/>
          <p:nvPr/>
        </p:nvSpPr>
        <p:spPr>
          <a:xfrm>
            <a:off x="3300984" y="311810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</a:rPr>
              <a:t>Dashboard</a:t>
            </a:r>
            <a:endParaRPr lang="en-US" sz="900" dirty="0"/>
          </a:p>
        </p:txBody>
      </p:sp>
      <p:sp>
        <p:nvSpPr>
          <p:cNvPr id="57" name="Text 54"/>
          <p:cNvSpPr/>
          <p:nvPr/>
        </p:nvSpPr>
        <p:spPr>
          <a:xfrm>
            <a:off x="3300984" y="331012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B3C"/>
                </a:solidFill>
              </a:rPr>
              <a:t>PowerBI</a:t>
            </a:r>
            <a:endParaRPr lang="en-US" sz="1150" dirty="0"/>
          </a:p>
        </p:txBody>
      </p:sp>
      <p:sp>
        <p:nvSpPr>
          <p:cNvPr id="58" name="Shape 55"/>
          <p:cNvSpPr/>
          <p:nvPr/>
        </p:nvSpPr>
        <p:spPr>
          <a:xfrm>
            <a:off x="6025896" y="3108960"/>
            <a:ext cx="54864" cy="402336"/>
          </a:xfrm>
          <a:prstGeom prst="rect">
            <a:avLst/>
          </a:prstGeom>
          <a:solidFill>
            <a:srgbClr val="0DB7ED"/>
          </a:solidFill>
          <a:ln w="12700">
            <a:solidFill>
              <a:srgbClr val="0DB7E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9" name="Text 56"/>
          <p:cNvSpPr/>
          <p:nvPr/>
        </p:nvSpPr>
        <p:spPr>
          <a:xfrm>
            <a:off x="6153912" y="311810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</a:rPr>
              <a:t>Conteneurs</a:t>
            </a:r>
            <a:endParaRPr lang="en-US" sz="900" dirty="0"/>
          </a:p>
        </p:txBody>
      </p:sp>
      <p:sp>
        <p:nvSpPr>
          <p:cNvPr id="60" name="Text 57"/>
          <p:cNvSpPr/>
          <p:nvPr/>
        </p:nvSpPr>
        <p:spPr>
          <a:xfrm>
            <a:off x="6153912" y="331012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B3C"/>
                </a:solidFill>
              </a:rPr>
              <a:t>Docker Compose</a:t>
            </a:r>
            <a:endParaRPr lang="en-US" sz="1150" dirty="0"/>
          </a:p>
        </p:txBody>
      </p:sp>
      <p:sp>
        <p:nvSpPr>
          <p:cNvPr id="61" name="Shape 58"/>
          <p:cNvSpPr/>
          <p:nvPr/>
        </p:nvSpPr>
        <p:spPr>
          <a:xfrm>
            <a:off x="320040" y="3886200"/>
            <a:ext cx="8503920" cy="502920"/>
          </a:xfrm>
          <a:prstGeom prst="rect">
            <a:avLst/>
          </a:prstGeom>
          <a:solidFill>
            <a:srgbClr val="EBF5FB"/>
          </a:solidFill>
          <a:ln w="6350">
            <a:solidFill>
              <a:srgbClr val="C8DD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Text 59"/>
          <p:cNvSpPr/>
          <p:nvPr/>
        </p:nvSpPr>
        <p:spPr>
          <a:xfrm>
            <a:off x="502920" y="39684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D7EC4"/>
                </a:solidFill>
              </a:rPr>
              <a:t>Flux live : Activité → Redpanda → Spark → Gold + Slack  (en temps réel)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73352" y="1394460"/>
            <a:ext cx="73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→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489704" y="1394460"/>
            <a:ext cx="73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→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081528" y="1394460"/>
            <a:ext cx="73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→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897880" y="1394460"/>
            <a:ext cx="73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→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7306056" y="1394460"/>
            <a:ext cx="73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→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Modèle de données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11480" y="40690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BEDC"/>
                </a:solidFill>
              </a:rPr>
              <a:t>9 Tables · Architecture Medallion</a:t>
            </a:r>
            <a:endParaRPr lang="en-US" sz="9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5720"/>
            <a:ext cx="640080" cy="5760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38160" y="48280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</a:rPr>
              <a:t>4 / 10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182880" y="777240"/>
            <a:ext cx="1920240" cy="256032"/>
          </a:xfrm>
          <a:prstGeom prst="rect">
            <a:avLst/>
          </a:prstGeom>
          <a:solidFill>
            <a:srgbClr val="1A8C73"/>
          </a:solidFill>
          <a:ln w="12700">
            <a:solidFill>
              <a:srgbClr val="1A8C7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182880" y="7772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SALARIÉ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182880" y="1033272"/>
            <a:ext cx="192024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228600" y="1097280"/>
            <a:ext cx="164592" cy="118872"/>
          </a:xfrm>
          <a:prstGeom prst="rect">
            <a:avLst/>
          </a:prstGeom>
          <a:solidFill>
            <a:srgbClr val="C98B2A"/>
          </a:solidFill>
          <a:ln w="12700">
            <a:solidFill>
              <a:srgbClr val="C98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228600" y="1097280"/>
            <a:ext cx="1645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dirty="0">
                <a:solidFill>
                  <a:srgbClr val="FFFFFF"/>
                </a:solidFill>
              </a:rPr>
              <a:t>PK</a:t>
            </a:r>
            <a:endParaRPr lang="en-US" sz="550" dirty="0"/>
          </a:p>
        </p:txBody>
      </p:sp>
      <p:sp>
        <p:nvSpPr>
          <p:cNvPr id="12" name="Text 9"/>
          <p:cNvSpPr/>
          <p:nvPr/>
        </p:nvSpPr>
        <p:spPr>
          <a:xfrm>
            <a:off x="429768" y="1078992"/>
            <a:ext cx="16276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98B2A"/>
                </a:solidFill>
              </a:rPr>
              <a:t>id_salarie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256032" y="1271016"/>
            <a:ext cx="181051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nom · prénom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256032" y="1463040"/>
            <a:ext cx="181051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salaire_brut_annuel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256032" y="1655064"/>
            <a:ext cx="181051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mode_transport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228600" y="1865376"/>
            <a:ext cx="164592" cy="118872"/>
          </a:xfrm>
          <a:prstGeom prst="rect">
            <a:avLst/>
          </a:prstGeom>
          <a:solidFill>
            <a:srgbClr val="1D7EC4"/>
          </a:solidFill>
          <a:ln w="12700">
            <a:solidFill>
              <a:srgbClr val="1D7E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228600" y="1865376"/>
            <a:ext cx="1645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dirty="0">
                <a:solidFill>
                  <a:srgbClr val="FFFFFF"/>
                </a:solidFill>
              </a:rPr>
              <a:t>FK</a:t>
            </a:r>
            <a:endParaRPr lang="en-US" sz="550" dirty="0"/>
          </a:p>
        </p:txBody>
      </p:sp>
      <p:sp>
        <p:nvSpPr>
          <p:cNvPr id="18" name="Text 15"/>
          <p:cNvSpPr/>
          <p:nvPr/>
        </p:nvSpPr>
        <p:spPr>
          <a:xfrm>
            <a:off x="429768" y="1847088"/>
            <a:ext cx="16276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D7EC4"/>
                </a:solidFill>
              </a:rPr>
              <a:t>transport_eligible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182880" y="2339457"/>
            <a:ext cx="1371600" cy="256032"/>
          </a:xfrm>
          <a:prstGeom prst="rect">
            <a:avLst/>
          </a:prstGeom>
          <a:solidFill>
            <a:srgbClr val="1D7EC4"/>
          </a:solidFill>
          <a:ln w="12700">
            <a:solidFill>
              <a:srgbClr val="1D7E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182880" y="233945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SPORT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182880" y="2595489"/>
            <a:ext cx="1371600" cy="667512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19"/>
          <p:cNvSpPr/>
          <p:nvPr/>
        </p:nvSpPr>
        <p:spPr>
          <a:xfrm>
            <a:off x="228600" y="2659497"/>
            <a:ext cx="164592" cy="118872"/>
          </a:xfrm>
          <a:prstGeom prst="rect">
            <a:avLst/>
          </a:prstGeom>
          <a:solidFill>
            <a:srgbClr val="C98B2A"/>
          </a:solidFill>
          <a:ln w="12700">
            <a:solidFill>
              <a:srgbClr val="C98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228600" y="2659497"/>
            <a:ext cx="1645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dirty="0">
                <a:solidFill>
                  <a:srgbClr val="FFFFFF"/>
                </a:solidFill>
              </a:rPr>
              <a:t>PK</a:t>
            </a:r>
            <a:endParaRPr lang="en-US" sz="550" dirty="0"/>
          </a:p>
        </p:txBody>
      </p:sp>
      <p:sp>
        <p:nvSpPr>
          <p:cNvPr id="24" name="Text 21"/>
          <p:cNvSpPr/>
          <p:nvPr/>
        </p:nvSpPr>
        <p:spPr>
          <a:xfrm>
            <a:off x="429768" y="2641209"/>
            <a:ext cx="107899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98B2A"/>
                </a:solidFill>
              </a:rPr>
              <a:t>id_sport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256032" y="2833233"/>
            <a:ext cx="12618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libelle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256032" y="3025257"/>
            <a:ext cx="12618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categorie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182880" y="3409305"/>
            <a:ext cx="13716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5"/>
          <p:cNvSpPr/>
          <p:nvPr/>
        </p:nvSpPr>
        <p:spPr>
          <a:xfrm>
            <a:off x="182880" y="3409305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PRATIQUE_SPORTIVE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182880" y="3665337"/>
            <a:ext cx="13716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Shape 27"/>
          <p:cNvSpPr/>
          <p:nvPr/>
        </p:nvSpPr>
        <p:spPr>
          <a:xfrm>
            <a:off x="228600" y="3729345"/>
            <a:ext cx="164592" cy="118872"/>
          </a:xfrm>
          <a:prstGeom prst="rect">
            <a:avLst/>
          </a:prstGeom>
          <a:solidFill>
            <a:srgbClr val="1D7EC4"/>
          </a:solidFill>
          <a:ln w="12700">
            <a:solidFill>
              <a:srgbClr val="1D7E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8"/>
          <p:cNvSpPr/>
          <p:nvPr/>
        </p:nvSpPr>
        <p:spPr>
          <a:xfrm>
            <a:off x="228600" y="3729345"/>
            <a:ext cx="1645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dirty="0">
                <a:solidFill>
                  <a:srgbClr val="FFFFFF"/>
                </a:solidFill>
              </a:rPr>
              <a:t>FK</a:t>
            </a:r>
            <a:endParaRPr lang="en-US" sz="550" dirty="0"/>
          </a:p>
        </p:txBody>
      </p:sp>
      <p:sp>
        <p:nvSpPr>
          <p:cNvPr id="32" name="Text 29"/>
          <p:cNvSpPr/>
          <p:nvPr/>
        </p:nvSpPr>
        <p:spPr>
          <a:xfrm>
            <a:off x="429768" y="3711057"/>
            <a:ext cx="107899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D7EC4"/>
                </a:solidFill>
              </a:rPr>
              <a:t>id_salarie</a:t>
            </a:r>
            <a:endParaRPr lang="en-US" sz="750" dirty="0"/>
          </a:p>
        </p:txBody>
      </p:sp>
      <p:sp>
        <p:nvSpPr>
          <p:cNvPr id="33" name="Shape 30"/>
          <p:cNvSpPr/>
          <p:nvPr/>
        </p:nvSpPr>
        <p:spPr>
          <a:xfrm>
            <a:off x="228600" y="3921369"/>
            <a:ext cx="164592" cy="118872"/>
          </a:xfrm>
          <a:prstGeom prst="rect">
            <a:avLst/>
          </a:prstGeom>
          <a:solidFill>
            <a:srgbClr val="1D7EC4"/>
          </a:solidFill>
          <a:ln w="12700">
            <a:solidFill>
              <a:srgbClr val="1D7E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228600" y="3921369"/>
            <a:ext cx="1645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dirty="0">
                <a:solidFill>
                  <a:srgbClr val="FFFFFF"/>
                </a:solidFill>
              </a:rPr>
              <a:t>FK</a:t>
            </a:r>
            <a:endParaRPr lang="en-US" sz="550" dirty="0"/>
          </a:p>
        </p:txBody>
      </p:sp>
      <p:sp>
        <p:nvSpPr>
          <p:cNvPr id="35" name="Text 32"/>
          <p:cNvSpPr/>
          <p:nvPr/>
        </p:nvSpPr>
        <p:spPr>
          <a:xfrm>
            <a:off x="429768" y="3903081"/>
            <a:ext cx="107899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D7EC4"/>
                </a:solidFill>
              </a:rPr>
              <a:t>id_sport</a:t>
            </a:r>
            <a:endParaRPr lang="en-US" sz="750" dirty="0"/>
          </a:p>
        </p:txBody>
      </p:sp>
      <p:sp>
        <p:nvSpPr>
          <p:cNvPr id="36" name="Shape 33"/>
          <p:cNvSpPr/>
          <p:nvPr/>
        </p:nvSpPr>
        <p:spPr>
          <a:xfrm>
            <a:off x="2331720" y="777240"/>
            <a:ext cx="2011680" cy="256032"/>
          </a:xfrm>
          <a:prstGeom prst="rect">
            <a:avLst/>
          </a:prstGeom>
          <a:solidFill>
            <a:srgbClr val="1D7EC4"/>
          </a:solidFill>
          <a:ln w="12700">
            <a:solidFill>
              <a:srgbClr val="1D7E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Text 34"/>
          <p:cNvSpPr/>
          <p:nvPr/>
        </p:nvSpPr>
        <p:spPr>
          <a:xfrm>
            <a:off x="2331720" y="7772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ACTIVITÉ_SPORTIVE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2331720" y="1033272"/>
            <a:ext cx="201168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Shape 36"/>
          <p:cNvSpPr/>
          <p:nvPr/>
        </p:nvSpPr>
        <p:spPr>
          <a:xfrm>
            <a:off x="2377440" y="1097280"/>
            <a:ext cx="164592" cy="118872"/>
          </a:xfrm>
          <a:prstGeom prst="rect">
            <a:avLst/>
          </a:prstGeom>
          <a:solidFill>
            <a:srgbClr val="C98B2A"/>
          </a:solidFill>
          <a:ln w="12700">
            <a:solidFill>
              <a:srgbClr val="C98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7"/>
          <p:cNvSpPr/>
          <p:nvPr/>
        </p:nvSpPr>
        <p:spPr>
          <a:xfrm>
            <a:off x="2377440" y="1097280"/>
            <a:ext cx="1645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dirty="0">
                <a:solidFill>
                  <a:srgbClr val="FFFFFF"/>
                </a:solidFill>
              </a:rPr>
              <a:t>PK</a:t>
            </a:r>
            <a:endParaRPr lang="en-US" sz="550" dirty="0"/>
          </a:p>
        </p:txBody>
      </p:sp>
      <p:sp>
        <p:nvSpPr>
          <p:cNvPr id="41" name="Text 38"/>
          <p:cNvSpPr/>
          <p:nvPr/>
        </p:nvSpPr>
        <p:spPr>
          <a:xfrm>
            <a:off x="2578608" y="1078992"/>
            <a:ext cx="17190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98B2A"/>
                </a:solidFill>
              </a:rPr>
              <a:t>id_activite</a:t>
            </a:r>
            <a:endParaRPr lang="en-US" sz="750" dirty="0"/>
          </a:p>
        </p:txBody>
      </p:sp>
      <p:sp>
        <p:nvSpPr>
          <p:cNvPr id="42" name="Shape 39"/>
          <p:cNvSpPr/>
          <p:nvPr/>
        </p:nvSpPr>
        <p:spPr>
          <a:xfrm>
            <a:off x="2377440" y="1289304"/>
            <a:ext cx="164592" cy="118872"/>
          </a:xfrm>
          <a:prstGeom prst="rect">
            <a:avLst/>
          </a:prstGeom>
          <a:solidFill>
            <a:srgbClr val="1D7EC4"/>
          </a:solidFill>
          <a:ln w="12700">
            <a:solidFill>
              <a:srgbClr val="1D7E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Text 40"/>
          <p:cNvSpPr/>
          <p:nvPr/>
        </p:nvSpPr>
        <p:spPr>
          <a:xfrm>
            <a:off x="2377440" y="1289304"/>
            <a:ext cx="1645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dirty="0">
                <a:solidFill>
                  <a:srgbClr val="FFFFFF"/>
                </a:solidFill>
              </a:rPr>
              <a:t>FK</a:t>
            </a:r>
            <a:endParaRPr lang="en-US" sz="550" dirty="0"/>
          </a:p>
        </p:txBody>
      </p:sp>
      <p:sp>
        <p:nvSpPr>
          <p:cNvPr id="44" name="Text 41"/>
          <p:cNvSpPr/>
          <p:nvPr/>
        </p:nvSpPr>
        <p:spPr>
          <a:xfrm>
            <a:off x="2578608" y="1271016"/>
            <a:ext cx="17190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D7EC4"/>
                </a:solidFill>
              </a:rPr>
              <a:t>id_salarie</a:t>
            </a:r>
            <a:endParaRPr lang="en-US" sz="750" dirty="0"/>
          </a:p>
        </p:txBody>
      </p:sp>
      <p:sp>
        <p:nvSpPr>
          <p:cNvPr id="45" name="Shape 42"/>
          <p:cNvSpPr/>
          <p:nvPr/>
        </p:nvSpPr>
        <p:spPr>
          <a:xfrm>
            <a:off x="2377440" y="1481328"/>
            <a:ext cx="164592" cy="118872"/>
          </a:xfrm>
          <a:prstGeom prst="rect">
            <a:avLst/>
          </a:prstGeom>
          <a:solidFill>
            <a:srgbClr val="1D7EC4"/>
          </a:solidFill>
          <a:ln w="12700">
            <a:solidFill>
              <a:srgbClr val="1D7E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3"/>
          <p:cNvSpPr/>
          <p:nvPr/>
        </p:nvSpPr>
        <p:spPr>
          <a:xfrm>
            <a:off x="2377440" y="1481328"/>
            <a:ext cx="1645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dirty="0">
                <a:solidFill>
                  <a:srgbClr val="FFFFFF"/>
                </a:solidFill>
              </a:rPr>
              <a:t>FK</a:t>
            </a:r>
            <a:endParaRPr lang="en-US" sz="550" dirty="0"/>
          </a:p>
        </p:txBody>
      </p:sp>
      <p:sp>
        <p:nvSpPr>
          <p:cNvPr id="47" name="Text 44"/>
          <p:cNvSpPr/>
          <p:nvPr/>
        </p:nvSpPr>
        <p:spPr>
          <a:xfrm>
            <a:off x="2578608" y="1463040"/>
            <a:ext cx="17190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D7EC4"/>
                </a:solidFill>
              </a:rPr>
              <a:t>id_sport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2404872" y="1655064"/>
            <a:ext cx="19019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date_debut / fin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2404872" y="1847088"/>
            <a:ext cx="19019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distance_m · duree_s</a:t>
            </a:r>
            <a:endParaRPr lang="en-US" sz="750" dirty="0"/>
          </a:p>
        </p:txBody>
      </p:sp>
      <p:sp>
        <p:nvSpPr>
          <p:cNvPr id="50" name="Shape 47"/>
          <p:cNvSpPr/>
          <p:nvPr/>
        </p:nvSpPr>
        <p:spPr>
          <a:xfrm>
            <a:off x="2331720" y="2834640"/>
            <a:ext cx="2011680" cy="256032"/>
          </a:xfrm>
          <a:prstGeom prst="rect">
            <a:avLst/>
          </a:prstGeom>
          <a:solidFill>
            <a:srgbClr val="C98B2A"/>
          </a:solidFill>
          <a:ln w="12700">
            <a:solidFill>
              <a:srgbClr val="C98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Text 48"/>
          <p:cNvSpPr/>
          <p:nvPr/>
        </p:nvSpPr>
        <p:spPr>
          <a:xfrm>
            <a:off x="2331720" y="28346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PARAMÈTRE_RÈGLE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2331720" y="3090672"/>
            <a:ext cx="201168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3" name="Shape 50"/>
          <p:cNvSpPr/>
          <p:nvPr/>
        </p:nvSpPr>
        <p:spPr>
          <a:xfrm>
            <a:off x="2377440" y="3154680"/>
            <a:ext cx="164592" cy="118872"/>
          </a:xfrm>
          <a:prstGeom prst="rect">
            <a:avLst/>
          </a:prstGeom>
          <a:solidFill>
            <a:srgbClr val="C98B2A"/>
          </a:solidFill>
          <a:ln w="12700">
            <a:solidFill>
              <a:srgbClr val="C98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Text 51"/>
          <p:cNvSpPr/>
          <p:nvPr/>
        </p:nvSpPr>
        <p:spPr>
          <a:xfrm>
            <a:off x="2377440" y="3154680"/>
            <a:ext cx="1645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dirty="0">
                <a:solidFill>
                  <a:srgbClr val="FFFFFF"/>
                </a:solidFill>
              </a:rPr>
              <a:t>PK</a:t>
            </a:r>
            <a:endParaRPr lang="en-US" sz="550" dirty="0"/>
          </a:p>
        </p:txBody>
      </p:sp>
      <p:sp>
        <p:nvSpPr>
          <p:cNvPr id="55" name="Text 52"/>
          <p:cNvSpPr/>
          <p:nvPr/>
        </p:nvSpPr>
        <p:spPr>
          <a:xfrm>
            <a:off x="2578608" y="3136392"/>
            <a:ext cx="17190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98B2A"/>
                </a:solidFill>
              </a:rPr>
              <a:t>id_parametre</a:t>
            </a:r>
            <a:endParaRPr lang="en-US" sz="750" dirty="0"/>
          </a:p>
        </p:txBody>
      </p:sp>
      <p:sp>
        <p:nvSpPr>
          <p:cNvPr id="56" name="Text 53"/>
          <p:cNvSpPr/>
          <p:nvPr/>
        </p:nvSpPr>
        <p:spPr>
          <a:xfrm>
            <a:off x="2404872" y="3328416"/>
            <a:ext cx="19019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version_parametre</a:t>
            </a:r>
            <a:endParaRPr lang="en-US" sz="750" dirty="0"/>
          </a:p>
        </p:txBody>
      </p:sp>
      <p:sp>
        <p:nvSpPr>
          <p:cNvPr id="57" name="Text 54"/>
          <p:cNvSpPr/>
          <p:nvPr/>
        </p:nvSpPr>
        <p:spPr>
          <a:xfrm>
            <a:off x="2404872" y="3520440"/>
            <a:ext cx="19019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taux_prime (5%)</a:t>
            </a:r>
            <a:endParaRPr lang="en-US" sz="750" dirty="0"/>
          </a:p>
        </p:txBody>
      </p:sp>
      <p:sp>
        <p:nvSpPr>
          <p:cNvPr id="58" name="Text 55"/>
          <p:cNvSpPr/>
          <p:nvPr/>
        </p:nvSpPr>
        <p:spPr>
          <a:xfrm>
            <a:off x="2404872" y="3712464"/>
            <a:ext cx="19019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seuil_wellness (15)</a:t>
            </a:r>
            <a:endParaRPr lang="en-US" sz="750" dirty="0"/>
          </a:p>
        </p:txBody>
      </p:sp>
      <p:sp>
        <p:nvSpPr>
          <p:cNvPr id="59" name="Text 56"/>
          <p:cNvSpPr/>
          <p:nvPr/>
        </p:nvSpPr>
        <p:spPr>
          <a:xfrm>
            <a:off x="2404872" y="3904488"/>
            <a:ext cx="19019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max_km marche / vélo</a:t>
            </a:r>
            <a:endParaRPr lang="en-US" sz="750" dirty="0"/>
          </a:p>
        </p:txBody>
      </p:sp>
      <p:sp>
        <p:nvSpPr>
          <p:cNvPr id="60" name="Shape 57"/>
          <p:cNvSpPr/>
          <p:nvPr/>
        </p:nvSpPr>
        <p:spPr>
          <a:xfrm>
            <a:off x="4572000" y="777240"/>
            <a:ext cx="2011680" cy="256032"/>
          </a:xfrm>
          <a:prstGeom prst="rect">
            <a:avLst/>
          </a:prstGeom>
          <a:solidFill>
            <a:srgbClr val="1A8C73"/>
          </a:solidFill>
          <a:ln w="12700">
            <a:solidFill>
              <a:srgbClr val="1A8C7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1" name="Text 58"/>
          <p:cNvSpPr/>
          <p:nvPr/>
        </p:nvSpPr>
        <p:spPr>
          <a:xfrm>
            <a:off x="4572000" y="7772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AVANTAGE_CALCULÉ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4572000" y="1033272"/>
            <a:ext cx="2011680" cy="1243584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3" name="Shape 60"/>
          <p:cNvSpPr/>
          <p:nvPr/>
        </p:nvSpPr>
        <p:spPr>
          <a:xfrm>
            <a:off x="4617720" y="1097280"/>
            <a:ext cx="164592" cy="118872"/>
          </a:xfrm>
          <a:prstGeom prst="rect">
            <a:avLst/>
          </a:prstGeom>
          <a:solidFill>
            <a:srgbClr val="C98B2A"/>
          </a:solidFill>
          <a:ln w="12700">
            <a:solidFill>
              <a:srgbClr val="C98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4" name="Text 61"/>
          <p:cNvSpPr/>
          <p:nvPr/>
        </p:nvSpPr>
        <p:spPr>
          <a:xfrm>
            <a:off x="4617720" y="1097280"/>
            <a:ext cx="1645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dirty="0">
                <a:solidFill>
                  <a:srgbClr val="FFFFFF"/>
                </a:solidFill>
              </a:rPr>
              <a:t>PK</a:t>
            </a:r>
            <a:endParaRPr lang="en-US" sz="550" dirty="0"/>
          </a:p>
        </p:txBody>
      </p:sp>
      <p:sp>
        <p:nvSpPr>
          <p:cNvPr id="65" name="Text 62"/>
          <p:cNvSpPr/>
          <p:nvPr/>
        </p:nvSpPr>
        <p:spPr>
          <a:xfrm>
            <a:off x="4818888" y="1078992"/>
            <a:ext cx="17190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98B2A"/>
                </a:solidFill>
              </a:rPr>
              <a:t>id_avantage_calcule</a:t>
            </a:r>
            <a:endParaRPr lang="en-US" sz="750" dirty="0"/>
          </a:p>
        </p:txBody>
      </p:sp>
      <p:sp>
        <p:nvSpPr>
          <p:cNvPr id="66" name="Shape 63"/>
          <p:cNvSpPr/>
          <p:nvPr/>
        </p:nvSpPr>
        <p:spPr>
          <a:xfrm>
            <a:off x="4617720" y="1289304"/>
            <a:ext cx="164592" cy="118872"/>
          </a:xfrm>
          <a:prstGeom prst="rect">
            <a:avLst/>
          </a:prstGeom>
          <a:solidFill>
            <a:srgbClr val="1D7EC4"/>
          </a:solidFill>
          <a:ln w="12700">
            <a:solidFill>
              <a:srgbClr val="1D7E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7" name="Text 64"/>
          <p:cNvSpPr/>
          <p:nvPr/>
        </p:nvSpPr>
        <p:spPr>
          <a:xfrm>
            <a:off x="4617720" y="1289304"/>
            <a:ext cx="1645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dirty="0">
                <a:solidFill>
                  <a:srgbClr val="FFFFFF"/>
                </a:solidFill>
              </a:rPr>
              <a:t>FK</a:t>
            </a:r>
            <a:endParaRPr lang="en-US" sz="550" dirty="0"/>
          </a:p>
        </p:txBody>
      </p:sp>
      <p:sp>
        <p:nvSpPr>
          <p:cNvPr id="68" name="Text 65"/>
          <p:cNvSpPr/>
          <p:nvPr/>
        </p:nvSpPr>
        <p:spPr>
          <a:xfrm>
            <a:off x="4818888" y="1271016"/>
            <a:ext cx="17190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D7EC4"/>
                </a:solidFill>
              </a:rPr>
              <a:t>id_salarie</a:t>
            </a:r>
            <a:endParaRPr lang="en-US" sz="750" dirty="0"/>
          </a:p>
        </p:txBody>
      </p:sp>
      <p:sp>
        <p:nvSpPr>
          <p:cNvPr id="69" name="Shape 66"/>
          <p:cNvSpPr/>
          <p:nvPr/>
        </p:nvSpPr>
        <p:spPr>
          <a:xfrm>
            <a:off x="4617720" y="1481328"/>
            <a:ext cx="164592" cy="118872"/>
          </a:xfrm>
          <a:prstGeom prst="rect">
            <a:avLst/>
          </a:prstGeom>
          <a:solidFill>
            <a:srgbClr val="1D7EC4"/>
          </a:solidFill>
          <a:ln w="12700">
            <a:solidFill>
              <a:srgbClr val="1D7E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0" name="Text 67"/>
          <p:cNvSpPr/>
          <p:nvPr/>
        </p:nvSpPr>
        <p:spPr>
          <a:xfrm>
            <a:off x="4617720" y="1481328"/>
            <a:ext cx="1645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dirty="0">
                <a:solidFill>
                  <a:srgbClr val="FFFFFF"/>
                </a:solidFill>
              </a:rPr>
              <a:t>FK</a:t>
            </a:r>
            <a:endParaRPr lang="en-US" sz="550" dirty="0"/>
          </a:p>
        </p:txBody>
      </p:sp>
      <p:sp>
        <p:nvSpPr>
          <p:cNvPr id="71" name="Text 68"/>
          <p:cNvSpPr/>
          <p:nvPr/>
        </p:nvSpPr>
        <p:spPr>
          <a:xfrm>
            <a:off x="4818888" y="1463040"/>
            <a:ext cx="17190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D7EC4"/>
                </a:solidFill>
              </a:rPr>
              <a:t>id_parametre</a:t>
            </a:r>
            <a:endParaRPr lang="en-US" sz="750" dirty="0"/>
          </a:p>
        </p:txBody>
      </p:sp>
      <p:sp>
        <p:nvSpPr>
          <p:cNvPr id="72" name="Text 69"/>
          <p:cNvSpPr/>
          <p:nvPr/>
        </p:nvSpPr>
        <p:spPr>
          <a:xfrm>
            <a:off x="4645152" y="1655064"/>
            <a:ext cx="19019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eligible</a:t>
            </a:r>
            <a:endParaRPr lang="en-US" sz="750" dirty="0"/>
          </a:p>
        </p:txBody>
      </p:sp>
      <p:sp>
        <p:nvSpPr>
          <p:cNvPr id="73" name="Text 70"/>
          <p:cNvSpPr/>
          <p:nvPr/>
        </p:nvSpPr>
        <p:spPr>
          <a:xfrm>
            <a:off x="4645152" y="1847088"/>
            <a:ext cx="19019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montant_prime</a:t>
            </a:r>
            <a:endParaRPr lang="en-US" sz="750" dirty="0"/>
          </a:p>
        </p:txBody>
      </p:sp>
      <p:sp>
        <p:nvSpPr>
          <p:cNvPr id="74" name="Text 71"/>
          <p:cNvSpPr/>
          <p:nvPr/>
        </p:nvSpPr>
        <p:spPr>
          <a:xfrm>
            <a:off x="4645152" y="2039112"/>
            <a:ext cx="19019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nb_jours_wellness</a:t>
            </a:r>
            <a:endParaRPr lang="en-US" sz="750" dirty="0"/>
          </a:p>
        </p:txBody>
      </p:sp>
      <p:sp>
        <p:nvSpPr>
          <p:cNvPr id="75" name="Shape 72"/>
          <p:cNvSpPr/>
          <p:nvPr/>
        </p:nvSpPr>
        <p:spPr>
          <a:xfrm>
            <a:off x="4572000" y="2834640"/>
            <a:ext cx="2011680" cy="256032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6" name="Text 73"/>
          <p:cNvSpPr/>
          <p:nvPr/>
        </p:nvSpPr>
        <p:spPr>
          <a:xfrm>
            <a:off x="4572000" y="28346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ANOMALIE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4572000" y="3090672"/>
            <a:ext cx="201168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8" name="Shape 75"/>
          <p:cNvSpPr/>
          <p:nvPr/>
        </p:nvSpPr>
        <p:spPr>
          <a:xfrm>
            <a:off x="4617720" y="3154680"/>
            <a:ext cx="164592" cy="118872"/>
          </a:xfrm>
          <a:prstGeom prst="rect">
            <a:avLst/>
          </a:prstGeom>
          <a:solidFill>
            <a:srgbClr val="C98B2A"/>
          </a:solidFill>
          <a:ln w="12700">
            <a:solidFill>
              <a:srgbClr val="C98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9" name="Text 76"/>
          <p:cNvSpPr/>
          <p:nvPr/>
        </p:nvSpPr>
        <p:spPr>
          <a:xfrm>
            <a:off x="4617720" y="3154680"/>
            <a:ext cx="1645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dirty="0">
                <a:solidFill>
                  <a:srgbClr val="FFFFFF"/>
                </a:solidFill>
              </a:rPr>
              <a:t>PK</a:t>
            </a:r>
            <a:endParaRPr lang="en-US" sz="550" dirty="0"/>
          </a:p>
        </p:txBody>
      </p:sp>
      <p:sp>
        <p:nvSpPr>
          <p:cNvPr id="80" name="Text 77"/>
          <p:cNvSpPr/>
          <p:nvPr/>
        </p:nvSpPr>
        <p:spPr>
          <a:xfrm>
            <a:off x="4818888" y="3136392"/>
            <a:ext cx="17190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98B2A"/>
                </a:solidFill>
              </a:rPr>
              <a:t>id_anomalie</a:t>
            </a:r>
            <a:endParaRPr lang="en-US" sz="750" dirty="0"/>
          </a:p>
        </p:txBody>
      </p:sp>
      <p:sp>
        <p:nvSpPr>
          <p:cNvPr id="81" name="Shape 78"/>
          <p:cNvSpPr/>
          <p:nvPr/>
        </p:nvSpPr>
        <p:spPr>
          <a:xfrm>
            <a:off x="4617720" y="3346704"/>
            <a:ext cx="164592" cy="118872"/>
          </a:xfrm>
          <a:prstGeom prst="rect">
            <a:avLst/>
          </a:prstGeom>
          <a:solidFill>
            <a:srgbClr val="1D7EC4"/>
          </a:solidFill>
          <a:ln w="12700">
            <a:solidFill>
              <a:srgbClr val="1D7E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2" name="Text 79"/>
          <p:cNvSpPr/>
          <p:nvPr/>
        </p:nvSpPr>
        <p:spPr>
          <a:xfrm>
            <a:off x="4617720" y="3346704"/>
            <a:ext cx="1645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dirty="0">
                <a:solidFill>
                  <a:srgbClr val="FFFFFF"/>
                </a:solidFill>
              </a:rPr>
              <a:t>FK</a:t>
            </a:r>
            <a:endParaRPr lang="en-US" sz="550" dirty="0"/>
          </a:p>
        </p:txBody>
      </p:sp>
      <p:sp>
        <p:nvSpPr>
          <p:cNvPr id="83" name="Text 80"/>
          <p:cNvSpPr/>
          <p:nvPr/>
        </p:nvSpPr>
        <p:spPr>
          <a:xfrm>
            <a:off x="4818888" y="3328416"/>
            <a:ext cx="17190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D7EC4"/>
                </a:solidFill>
              </a:rPr>
              <a:t>id_salarie</a:t>
            </a:r>
            <a:endParaRPr lang="en-US" sz="750" dirty="0"/>
          </a:p>
        </p:txBody>
      </p:sp>
      <p:sp>
        <p:nvSpPr>
          <p:cNvPr id="84" name="Text 81"/>
          <p:cNvSpPr/>
          <p:nvPr/>
        </p:nvSpPr>
        <p:spPr>
          <a:xfrm>
            <a:off x="4645152" y="3520440"/>
            <a:ext cx="19019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type_anomalie</a:t>
            </a:r>
            <a:endParaRPr lang="en-US" sz="750" dirty="0"/>
          </a:p>
        </p:txBody>
      </p:sp>
      <p:sp>
        <p:nvSpPr>
          <p:cNvPr id="85" name="Text 82"/>
          <p:cNvSpPr/>
          <p:nvPr/>
        </p:nvSpPr>
        <p:spPr>
          <a:xfrm>
            <a:off x="4645152" y="3712464"/>
            <a:ext cx="19019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niveau_gravite</a:t>
            </a:r>
            <a:endParaRPr lang="en-US" sz="750" dirty="0"/>
          </a:p>
        </p:txBody>
      </p:sp>
      <p:sp>
        <p:nvSpPr>
          <p:cNvPr id="86" name="Text 83"/>
          <p:cNvSpPr/>
          <p:nvPr/>
        </p:nvSpPr>
        <p:spPr>
          <a:xfrm>
            <a:off x="4645152" y="3904488"/>
            <a:ext cx="19019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statut</a:t>
            </a:r>
            <a:endParaRPr lang="en-US" sz="750" dirty="0"/>
          </a:p>
        </p:txBody>
      </p:sp>
      <p:sp>
        <p:nvSpPr>
          <p:cNvPr id="87" name="Shape 84"/>
          <p:cNvSpPr/>
          <p:nvPr/>
        </p:nvSpPr>
        <p:spPr>
          <a:xfrm>
            <a:off x="6812280" y="777240"/>
            <a:ext cx="2148840" cy="256032"/>
          </a:xfrm>
          <a:prstGeom prst="rect">
            <a:avLst/>
          </a:prstGeom>
          <a:solidFill>
            <a:srgbClr val="4A154B"/>
          </a:solidFill>
          <a:ln w="12700">
            <a:solidFill>
              <a:srgbClr val="4A154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8" name="Text 85"/>
          <p:cNvSpPr/>
          <p:nvPr/>
        </p:nvSpPr>
        <p:spPr>
          <a:xfrm>
            <a:off x="6812280" y="77724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MESSAGE_SLACK</a:t>
            </a:r>
            <a:endParaRPr lang="en-US" sz="850" dirty="0"/>
          </a:p>
        </p:txBody>
      </p:sp>
      <p:sp>
        <p:nvSpPr>
          <p:cNvPr id="89" name="Shape 86"/>
          <p:cNvSpPr/>
          <p:nvPr/>
        </p:nvSpPr>
        <p:spPr>
          <a:xfrm>
            <a:off x="6812280" y="1033272"/>
            <a:ext cx="2148840" cy="667512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0" name="Shape 87"/>
          <p:cNvSpPr/>
          <p:nvPr/>
        </p:nvSpPr>
        <p:spPr>
          <a:xfrm>
            <a:off x="6858000" y="1097280"/>
            <a:ext cx="164592" cy="118872"/>
          </a:xfrm>
          <a:prstGeom prst="rect">
            <a:avLst/>
          </a:prstGeom>
          <a:solidFill>
            <a:srgbClr val="C98B2A"/>
          </a:solidFill>
          <a:ln w="12700">
            <a:solidFill>
              <a:srgbClr val="C98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1" name="Text 88"/>
          <p:cNvSpPr/>
          <p:nvPr/>
        </p:nvSpPr>
        <p:spPr>
          <a:xfrm>
            <a:off x="6858000" y="1097280"/>
            <a:ext cx="1645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dirty="0">
                <a:solidFill>
                  <a:srgbClr val="FFFFFF"/>
                </a:solidFill>
              </a:rPr>
              <a:t>PK</a:t>
            </a:r>
            <a:endParaRPr lang="en-US" sz="550" dirty="0"/>
          </a:p>
        </p:txBody>
      </p:sp>
      <p:sp>
        <p:nvSpPr>
          <p:cNvPr id="92" name="Text 89"/>
          <p:cNvSpPr/>
          <p:nvPr/>
        </p:nvSpPr>
        <p:spPr>
          <a:xfrm>
            <a:off x="7059168" y="1078992"/>
            <a:ext cx="18562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98B2A"/>
                </a:solidFill>
              </a:rPr>
              <a:t>id_message</a:t>
            </a:r>
            <a:endParaRPr lang="en-US" sz="750" dirty="0"/>
          </a:p>
        </p:txBody>
      </p:sp>
      <p:sp>
        <p:nvSpPr>
          <p:cNvPr id="93" name="Shape 90"/>
          <p:cNvSpPr/>
          <p:nvPr/>
        </p:nvSpPr>
        <p:spPr>
          <a:xfrm>
            <a:off x="6858000" y="1289304"/>
            <a:ext cx="164592" cy="118872"/>
          </a:xfrm>
          <a:prstGeom prst="rect">
            <a:avLst/>
          </a:prstGeom>
          <a:solidFill>
            <a:srgbClr val="1D7EC4"/>
          </a:solidFill>
          <a:ln w="12700">
            <a:solidFill>
              <a:srgbClr val="1D7E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4" name="Text 91"/>
          <p:cNvSpPr/>
          <p:nvPr/>
        </p:nvSpPr>
        <p:spPr>
          <a:xfrm>
            <a:off x="6858000" y="1289304"/>
            <a:ext cx="1645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dirty="0">
                <a:solidFill>
                  <a:srgbClr val="FFFFFF"/>
                </a:solidFill>
              </a:rPr>
              <a:t>FK</a:t>
            </a:r>
            <a:endParaRPr lang="en-US" sz="550" dirty="0"/>
          </a:p>
        </p:txBody>
      </p:sp>
      <p:sp>
        <p:nvSpPr>
          <p:cNvPr id="95" name="Text 92"/>
          <p:cNvSpPr/>
          <p:nvPr/>
        </p:nvSpPr>
        <p:spPr>
          <a:xfrm>
            <a:off x="7059168" y="1271016"/>
            <a:ext cx="18562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D7EC4"/>
                </a:solidFill>
              </a:rPr>
              <a:t>id_activite</a:t>
            </a:r>
            <a:endParaRPr lang="en-US" sz="750" dirty="0"/>
          </a:p>
        </p:txBody>
      </p:sp>
      <p:sp>
        <p:nvSpPr>
          <p:cNvPr id="96" name="Text 93"/>
          <p:cNvSpPr/>
          <p:nvPr/>
        </p:nvSpPr>
        <p:spPr>
          <a:xfrm>
            <a:off x="6885432" y="1463040"/>
            <a:ext cx="203911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contenu · statut_envoi</a:t>
            </a:r>
            <a:endParaRPr lang="en-US" sz="750" dirty="0"/>
          </a:p>
        </p:txBody>
      </p:sp>
      <p:sp>
        <p:nvSpPr>
          <p:cNvPr id="97" name="Shape 94"/>
          <p:cNvSpPr/>
          <p:nvPr/>
        </p:nvSpPr>
        <p:spPr>
          <a:xfrm>
            <a:off x="6812280" y="1993392"/>
            <a:ext cx="214884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8" name="Text 95"/>
          <p:cNvSpPr/>
          <p:nvPr/>
        </p:nvSpPr>
        <p:spPr>
          <a:xfrm>
            <a:off x="6812280" y="2048256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B7280"/>
                </a:solidFill>
              </a:rPr>
              <a:t>Couches DuckDB</a:t>
            </a:r>
            <a:endParaRPr lang="en-US" sz="900" dirty="0"/>
          </a:p>
        </p:txBody>
      </p:sp>
      <p:sp>
        <p:nvSpPr>
          <p:cNvPr id="99" name="Shape 96"/>
          <p:cNvSpPr/>
          <p:nvPr/>
        </p:nvSpPr>
        <p:spPr>
          <a:xfrm>
            <a:off x="6931152" y="2395728"/>
            <a:ext cx="502920" cy="420624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0" name="Text 97"/>
          <p:cNvSpPr/>
          <p:nvPr/>
        </p:nvSpPr>
        <p:spPr>
          <a:xfrm>
            <a:off x="6931152" y="2395728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BRONZE</a:t>
            </a:r>
            <a:endParaRPr lang="en-US" sz="700" dirty="0"/>
          </a:p>
        </p:txBody>
      </p:sp>
      <p:sp>
        <p:nvSpPr>
          <p:cNvPr id="101" name="Text 98"/>
          <p:cNvSpPr/>
          <p:nvPr/>
        </p:nvSpPr>
        <p:spPr>
          <a:xfrm>
            <a:off x="7470648" y="24688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B3C"/>
                </a:solidFill>
              </a:rPr>
              <a:t>Données brutes</a:t>
            </a:r>
            <a:endParaRPr lang="en-US" sz="850" dirty="0"/>
          </a:p>
        </p:txBody>
      </p:sp>
      <p:sp>
        <p:nvSpPr>
          <p:cNvPr id="102" name="Shape 99"/>
          <p:cNvSpPr/>
          <p:nvPr/>
        </p:nvSpPr>
        <p:spPr>
          <a:xfrm>
            <a:off x="6931152" y="3017520"/>
            <a:ext cx="502920" cy="42062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3" name="Text 100"/>
          <p:cNvSpPr/>
          <p:nvPr/>
        </p:nvSpPr>
        <p:spPr>
          <a:xfrm>
            <a:off x="6931152" y="301752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SILVER</a:t>
            </a:r>
            <a:endParaRPr lang="en-US" sz="700" dirty="0"/>
          </a:p>
        </p:txBody>
      </p:sp>
      <p:sp>
        <p:nvSpPr>
          <p:cNvPr id="104" name="Text 101"/>
          <p:cNvSpPr/>
          <p:nvPr/>
        </p:nvSpPr>
        <p:spPr>
          <a:xfrm>
            <a:off x="7470648" y="309067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B3C"/>
                </a:solidFill>
              </a:rPr>
              <a:t>Nettoyées · enrichies</a:t>
            </a:r>
            <a:endParaRPr lang="en-US" sz="850" dirty="0"/>
          </a:p>
        </p:txBody>
      </p:sp>
      <p:sp>
        <p:nvSpPr>
          <p:cNvPr id="105" name="Shape 102"/>
          <p:cNvSpPr/>
          <p:nvPr/>
        </p:nvSpPr>
        <p:spPr>
          <a:xfrm>
            <a:off x="6931152" y="3639312"/>
            <a:ext cx="502920" cy="420624"/>
          </a:xfrm>
          <a:prstGeom prst="rect">
            <a:avLst/>
          </a:prstGeom>
          <a:solidFill>
            <a:srgbClr val="C98B2A"/>
          </a:solidFill>
          <a:ln w="12700">
            <a:solidFill>
              <a:srgbClr val="C98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6" name="Text 103"/>
          <p:cNvSpPr/>
          <p:nvPr/>
        </p:nvSpPr>
        <p:spPr>
          <a:xfrm>
            <a:off x="6931152" y="363931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GOLD</a:t>
            </a:r>
            <a:endParaRPr lang="en-US" sz="700" dirty="0"/>
          </a:p>
        </p:txBody>
      </p:sp>
      <p:sp>
        <p:nvSpPr>
          <p:cNvPr id="107" name="Text 104"/>
          <p:cNvSpPr/>
          <p:nvPr/>
        </p:nvSpPr>
        <p:spPr>
          <a:xfrm>
            <a:off x="7470648" y="371246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B3C"/>
                </a:solidFill>
              </a:rPr>
              <a:t>KPI · avantages · Slack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33">
            <a:extLst>
              <a:ext uri="{FF2B5EF4-FFF2-40B4-BE49-F238E27FC236}">
                <a16:creationId xmlns:a16="http://schemas.microsoft.com/office/drawing/2014/main" id="{46AB1A79-7D77-498F-ACD2-EB02E0354BBB}"/>
              </a:ext>
            </a:extLst>
          </p:cNvPr>
          <p:cNvSpPr/>
          <p:nvPr/>
        </p:nvSpPr>
        <p:spPr>
          <a:xfrm>
            <a:off x="320040" y="2025396"/>
            <a:ext cx="8503920" cy="1092708"/>
          </a:xfrm>
          <a:prstGeom prst="rect">
            <a:avLst/>
          </a:prstGeom>
          <a:solidFill>
            <a:srgbClr val="1A8C73"/>
          </a:solidFill>
          <a:ln w="12700">
            <a:solidFill>
              <a:srgbClr val="1A8C7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34">
            <a:extLst>
              <a:ext uri="{FF2B5EF4-FFF2-40B4-BE49-F238E27FC236}">
                <a16:creationId xmlns:a16="http://schemas.microsoft.com/office/drawing/2014/main" id="{8BA9708E-6FF7-7D18-FD40-377DB7F23627}"/>
              </a:ext>
            </a:extLst>
          </p:cNvPr>
          <p:cNvSpPr/>
          <p:nvPr/>
        </p:nvSpPr>
        <p:spPr>
          <a:xfrm>
            <a:off x="320040" y="2398014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Livraison du POC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03805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Les 2 avantages &amp; règles de calcul</a:t>
            </a:r>
            <a:endParaRPr lang="en-US" sz="18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5720"/>
            <a:ext cx="640080" cy="5760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38160" y="48280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</a:rPr>
              <a:t>5 / 10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29184" y="685800"/>
            <a:ext cx="416052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320040" y="749808"/>
            <a:ext cx="4160520" cy="329184"/>
          </a:xfrm>
          <a:prstGeom prst="rect">
            <a:avLst/>
          </a:prstGeom>
          <a:solidFill>
            <a:srgbClr val="C98B2A"/>
          </a:solidFill>
          <a:ln w="12700">
            <a:solidFill>
              <a:srgbClr val="C98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320040" y="74980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Prime sportive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1170432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C98B2A"/>
                </a:solidFill>
              </a:rPr>
              <a:t>5 %</a:t>
            </a:r>
            <a:endParaRPr lang="en-US" sz="52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6B7280"/>
                </a:solidFill>
              </a:rPr>
              <a:t>du salaire brut annuel</a:t>
            </a:r>
            <a:endParaRPr lang="en-US" sz="5200" dirty="0"/>
          </a:p>
        </p:txBody>
      </p:sp>
      <p:sp>
        <p:nvSpPr>
          <p:cNvPr id="11" name="Text 8"/>
          <p:cNvSpPr/>
          <p:nvPr/>
        </p:nvSpPr>
        <p:spPr>
          <a:xfrm>
            <a:off x="502920" y="224028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B3C"/>
                </a:solidFill>
              </a:rPr>
              <a:t>Conditions :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87094" y="2660904"/>
            <a:ext cx="91440" cy="91440"/>
          </a:xfrm>
          <a:prstGeom prst="ellipse">
            <a:avLst/>
          </a:prstGeom>
          <a:solidFill>
            <a:srgbClr val="C98B2A"/>
          </a:solidFill>
          <a:ln w="12700">
            <a:solidFill>
              <a:srgbClr val="C98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667512" y="254203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B3C"/>
                </a:solidFill>
              </a:rPr>
              <a:t>Venir au bureau à vélo, à pied ou en courant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4632" y="3100168"/>
            <a:ext cx="91440" cy="91440"/>
          </a:xfrm>
          <a:prstGeom prst="ellipse">
            <a:avLst/>
          </a:prstGeom>
          <a:solidFill>
            <a:srgbClr val="C98B2A"/>
          </a:solidFill>
          <a:ln w="12700">
            <a:solidFill>
              <a:srgbClr val="C98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667512" y="2962656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B3C"/>
                </a:solidFill>
              </a:rPr>
              <a:t>Distance ≤ 15 km à pied  ·  ≤ 25 km à vélo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87094" y="3502152"/>
            <a:ext cx="91440" cy="91440"/>
          </a:xfrm>
          <a:prstGeom prst="ellipse">
            <a:avLst/>
          </a:prstGeom>
          <a:solidFill>
            <a:srgbClr val="C98B2A"/>
          </a:solidFill>
          <a:ln w="12700">
            <a:solidFill>
              <a:srgbClr val="C98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667512" y="338328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B3C"/>
                </a:solidFill>
              </a:rPr>
              <a:t>Mode de transport déclaré et validé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02920" y="4206240"/>
            <a:ext cx="3794760" cy="502920"/>
          </a:xfrm>
          <a:prstGeom prst="rect">
            <a:avLst/>
          </a:prstGeom>
          <a:solidFill>
            <a:srgbClr val="FEF3E2"/>
          </a:solidFill>
          <a:ln w="6350">
            <a:solidFill>
              <a:srgbClr val="F5D58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6"/>
          <p:cNvSpPr/>
          <p:nvPr/>
        </p:nvSpPr>
        <p:spPr>
          <a:xfrm>
            <a:off x="502920" y="423367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98B2A"/>
                </a:solidFill>
              </a:rPr>
              <a:t>Ex : 55 000 € brut  →  prime de 2 750 €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02920" y="4507992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</a:rPr>
              <a:t>Coût calculé : salaire × 5 %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749808"/>
            <a:ext cx="416052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Shape 19"/>
          <p:cNvSpPr/>
          <p:nvPr/>
        </p:nvSpPr>
        <p:spPr>
          <a:xfrm>
            <a:off x="4663440" y="749808"/>
            <a:ext cx="4160520" cy="329184"/>
          </a:xfrm>
          <a:prstGeom prst="rect">
            <a:avLst/>
          </a:prstGeom>
          <a:solidFill>
            <a:srgbClr val="1A8C73"/>
          </a:solidFill>
          <a:ln w="12700">
            <a:solidFill>
              <a:srgbClr val="1A8C7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4663440" y="74980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 jours bien-être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4846320" y="1170432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1A8C73"/>
                </a:solidFill>
              </a:rPr>
              <a:t>≥ 15</a:t>
            </a:r>
            <a:endParaRPr lang="en-US" sz="52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6B7280"/>
                </a:solidFill>
              </a:rPr>
              <a:t>activités physiques sur 12 mois</a:t>
            </a:r>
            <a:endParaRPr lang="en-US" sz="5200" dirty="0"/>
          </a:p>
        </p:txBody>
      </p:sp>
      <p:sp>
        <p:nvSpPr>
          <p:cNvPr id="25" name="Text 22"/>
          <p:cNvSpPr/>
          <p:nvPr/>
        </p:nvSpPr>
        <p:spPr>
          <a:xfrm>
            <a:off x="4846320" y="224028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B3C"/>
                </a:solidFill>
              </a:rPr>
              <a:t>Conditions :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855464" y="2688336"/>
            <a:ext cx="91440" cy="91440"/>
          </a:xfrm>
          <a:prstGeom prst="ellipse">
            <a:avLst/>
          </a:prstGeom>
          <a:solidFill>
            <a:srgbClr val="1A8C73"/>
          </a:solidFill>
          <a:ln w="12700">
            <a:solidFill>
              <a:srgbClr val="1A8C7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4"/>
          <p:cNvSpPr/>
          <p:nvPr/>
        </p:nvSpPr>
        <p:spPr>
          <a:xfrm>
            <a:off x="5010912" y="254203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B3C"/>
                </a:solidFill>
              </a:rPr>
              <a:t>Toute activité physique compte (course, vélo, yoga…)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4855464" y="3108960"/>
            <a:ext cx="91440" cy="91440"/>
          </a:xfrm>
          <a:prstGeom prst="ellipse">
            <a:avLst/>
          </a:prstGeom>
          <a:solidFill>
            <a:srgbClr val="1A8C73"/>
          </a:solidFill>
          <a:ln w="12700">
            <a:solidFill>
              <a:srgbClr val="1A8C7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5010912" y="2962656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B3C"/>
                </a:solidFill>
              </a:rPr>
              <a:t>Comptage automatique sur les 12 mois glissants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4855464" y="3529584"/>
            <a:ext cx="91440" cy="91440"/>
          </a:xfrm>
          <a:prstGeom prst="ellipse">
            <a:avLst/>
          </a:prstGeom>
          <a:solidFill>
            <a:srgbClr val="1A8C73"/>
          </a:solidFill>
          <a:ln w="12700">
            <a:solidFill>
              <a:srgbClr val="1A8C7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8"/>
          <p:cNvSpPr/>
          <p:nvPr/>
        </p:nvSpPr>
        <p:spPr>
          <a:xfrm>
            <a:off x="5010912" y="338328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B3C"/>
                </a:solidFill>
              </a:rPr>
              <a:t>Recalcul à chaque nouvelle activité enregistrée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4846320" y="4206240"/>
            <a:ext cx="3794760" cy="502920"/>
          </a:xfrm>
          <a:prstGeom prst="rect">
            <a:avLst/>
          </a:prstGeom>
          <a:solidFill>
            <a:srgbClr val="E6F4F1"/>
          </a:solidFill>
          <a:ln w="6350">
            <a:solidFill>
              <a:srgbClr val="8DCFC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0"/>
          <p:cNvSpPr/>
          <p:nvPr/>
        </p:nvSpPr>
        <p:spPr>
          <a:xfrm>
            <a:off x="4846320" y="423367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8C73"/>
                </a:solidFill>
              </a:rPr>
              <a:t>Coût = </a:t>
            </a:r>
            <a:r>
              <a:rPr lang="en-US" sz="1000" dirty="0" err="1">
                <a:solidFill>
                  <a:srgbClr val="1A8C73"/>
                </a:solidFill>
              </a:rPr>
              <a:t>salaire</a:t>
            </a:r>
            <a:r>
              <a:rPr lang="en-US" sz="1000" dirty="0">
                <a:solidFill>
                  <a:srgbClr val="1A8C73"/>
                </a:solidFill>
              </a:rPr>
              <a:t> ÷ 220 jours × 5 jours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846320" y="4507992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</a:rPr>
              <a:t>Paramètres modifiables à tout moment</a:t>
            </a:r>
            <a:endParaRPr lang="en-US" sz="9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5F84460-82FB-619B-9B87-4CB73A442FA6}"/>
              </a:ext>
            </a:extLst>
          </p:cNvPr>
          <p:cNvSpPr/>
          <p:nvPr/>
        </p:nvSpPr>
        <p:spPr>
          <a:xfrm>
            <a:off x="411480" y="40690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BEDC"/>
                </a:solidFill>
              </a:rPr>
              <a:t>Rappel 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Résultats du POC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29768" y="397764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BEDC"/>
                </a:solidFill>
              </a:rPr>
              <a:t>Ce que ce projet apporte concrètement</a:t>
            </a:r>
            <a:endParaRPr lang="en-US" sz="9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5720"/>
            <a:ext cx="640080" cy="5760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38160" y="48280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</a:rPr>
              <a:t>6 / 10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20040" y="804672"/>
            <a:ext cx="2743200" cy="1261872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320040" y="804672"/>
            <a:ext cx="2743200" cy="7315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320040" y="93268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3A5C"/>
                </a:solidFill>
              </a:rPr>
              <a:t>161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429768" y="1627632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salariés analysés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246120" y="804672"/>
            <a:ext cx="2743200" cy="1261872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3246120" y="804672"/>
            <a:ext cx="2743200" cy="73152"/>
          </a:xfrm>
          <a:prstGeom prst="rect">
            <a:avLst/>
          </a:prstGeom>
          <a:solidFill>
            <a:srgbClr val="C98B2A"/>
          </a:solidFill>
          <a:ln w="12700">
            <a:solidFill>
              <a:srgbClr val="C98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3246120" y="93268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8B2A"/>
                </a:solidFill>
              </a:rPr>
              <a:t>68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3355848" y="1627632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éligibles à la prime sport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72200" y="804672"/>
            <a:ext cx="2743200" cy="1261872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3"/>
          <p:cNvSpPr/>
          <p:nvPr/>
        </p:nvSpPr>
        <p:spPr>
          <a:xfrm>
            <a:off x="6172200" y="804672"/>
            <a:ext cx="2743200" cy="73152"/>
          </a:xfrm>
          <a:prstGeom prst="rect">
            <a:avLst/>
          </a:prstGeom>
          <a:solidFill>
            <a:srgbClr val="1A8C73"/>
          </a:solidFill>
          <a:ln w="12700">
            <a:solidFill>
              <a:srgbClr val="1A8C7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6172200" y="93268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8C73"/>
                </a:solidFill>
              </a:rPr>
              <a:t>77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6281928" y="1627632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éligibles jours bien-être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0040" y="2249424"/>
            <a:ext cx="2743200" cy="1261872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7"/>
          <p:cNvSpPr/>
          <p:nvPr/>
        </p:nvSpPr>
        <p:spPr>
          <a:xfrm>
            <a:off x="320040" y="2249424"/>
            <a:ext cx="2743200" cy="73152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8"/>
          <p:cNvSpPr/>
          <p:nvPr/>
        </p:nvSpPr>
        <p:spPr>
          <a:xfrm>
            <a:off x="320040" y="237744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84B31"/>
                </a:solidFill>
              </a:rPr>
              <a:t>260 830 €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429768" y="3072384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budget total estimé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246120" y="2249424"/>
            <a:ext cx="2743200" cy="1261872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Shape 21"/>
          <p:cNvSpPr/>
          <p:nvPr/>
        </p:nvSpPr>
        <p:spPr>
          <a:xfrm>
            <a:off x="3246120" y="2249424"/>
            <a:ext cx="274320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2"/>
          <p:cNvSpPr/>
          <p:nvPr/>
        </p:nvSpPr>
        <p:spPr>
          <a:xfrm>
            <a:off x="3246120" y="237744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6B7280"/>
                </a:solidFill>
              </a:rPr>
              <a:t>12</a:t>
            </a:r>
            <a:endParaRPr lang="en-US" sz="3000" dirty="0"/>
          </a:p>
        </p:txBody>
      </p:sp>
      <p:sp>
        <p:nvSpPr>
          <p:cNvPr id="26" name="Text 23"/>
          <p:cNvSpPr/>
          <p:nvPr/>
        </p:nvSpPr>
        <p:spPr>
          <a:xfrm>
            <a:off x="3355848" y="3072384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anomalies détectées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172200" y="2249424"/>
            <a:ext cx="2743200" cy="1261872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Shape 25"/>
          <p:cNvSpPr/>
          <p:nvPr/>
        </p:nvSpPr>
        <p:spPr>
          <a:xfrm>
            <a:off x="6172200" y="2249424"/>
            <a:ext cx="2743200" cy="73152"/>
          </a:xfrm>
          <a:prstGeom prst="rect">
            <a:avLst/>
          </a:prstGeom>
          <a:solidFill>
            <a:srgbClr val="1D7EC4"/>
          </a:solidFill>
          <a:ln w="12700">
            <a:solidFill>
              <a:srgbClr val="1D7E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6172200" y="237744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D7EC4"/>
                </a:solidFill>
              </a:rPr>
              <a:t>100 %</a:t>
            </a:r>
            <a:endParaRPr lang="en-US" sz="3000" dirty="0"/>
          </a:p>
        </p:txBody>
      </p:sp>
      <p:sp>
        <p:nvSpPr>
          <p:cNvPr id="30" name="Text 27"/>
          <p:cNvSpPr/>
          <p:nvPr/>
        </p:nvSpPr>
        <p:spPr>
          <a:xfrm>
            <a:off x="6281928" y="3072384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des calculs automatisés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Qualité &amp; fiabilité des données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11480" y="411480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BEDC"/>
                </a:solidFill>
              </a:rPr>
              <a:t>Avant de calculer, on vérifie</a:t>
            </a:r>
            <a:endParaRPr lang="en-US" sz="9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5720"/>
            <a:ext cx="640080" cy="5760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38160" y="48280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</a:rPr>
              <a:t>7 / 10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1480" y="777240"/>
            <a:ext cx="8321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</a:rPr>
              <a:t>Une prime calculée sur des données incorrectes, c'est un problème RH, financier et technique.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11480" y="124358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B3C"/>
                </a:solidFill>
              </a:rPr>
              <a:t>Contrôles automatiques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11480" y="1591056"/>
            <a:ext cx="41148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682496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77824" y="1627632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B3C"/>
                </a:solidFill>
              </a:rPr>
              <a:t>Unicité des salariés et activités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877824" y="1828800"/>
            <a:ext cx="3529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8C73"/>
                </a:solidFill>
              </a:rPr>
              <a:t>PASS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11480" y="2084832"/>
            <a:ext cx="41148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2176272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77824" y="2121408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B3C"/>
                </a:solidFill>
              </a:rPr>
              <a:t>Validité des dates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877824" y="2322576"/>
            <a:ext cx="3529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8C73"/>
                </a:solidFill>
              </a:rPr>
              <a:t>PASS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411480" y="2578608"/>
            <a:ext cx="41148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2670048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77824" y="2615184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B3C"/>
                </a:solidFill>
              </a:rPr>
              <a:t>Cohérence des distances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877824" y="2816352"/>
            <a:ext cx="3529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8B2A"/>
                </a:solidFill>
              </a:rPr>
              <a:t>⚠ voir anomalies</a:t>
            </a:r>
            <a:endParaRPr lang="en-US" sz="900" dirty="0"/>
          </a:p>
        </p:txBody>
      </p:sp>
      <p:sp>
        <p:nvSpPr>
          <p:cNvPr id="21" name="Shape 15"/>
          <p:cNvSpPr/>
          <p:nvPr/>
        </p:nvSpPr>
        <p:spPr>
          <a:xfrm>
            <a:off x="411480" y="3072384"/>
            <a:ext cx="41148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3163824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77824" y="3108960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B3C"/>
                </a:solidFill>
              </a:rPr>
              <a:t>Types de sport autorisés</a:t>
            </a:r>
            <a:endParaRPr lang="en-US" sz="1100" dirty="0"/>
          </a:p>
        </p:txBody>
      </p:sp>
      <p:sp>
        <p:nvSpPr>
          <p:cNvPr id="24" name="Text 17"/>
          <p:cNvSpPr/>
          <p:nvPr/>
        </p:nvSpPr>
        <p:spPr>
          <a:xfrm>
            <a:off x="877824" y="3310128"/>
            <a:ext cx="3529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8C73"/>
                </a:solidFill>
              </a:rPr>
              <a:t>PASS</a:t>
            </a:r>
            <a:endParaRPr lang="en-US" sz="900" dirty="0"/>
          </a:p>
        </p:txBody>
      </p:sp>
      <p:sp>
        <p:nvSpPr>
          <p:cNvPr id="25" name="Shape 18"/>
          <p:cNvSpPr/>
          <p:nvPr/>
        </p:nvSpPr>
        <p:spPr>
          <a:xfrm>
            <a:off x="411480" y="3566160"/>
            <a:ext cx="41148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3657600"/>
            <a:ext cx="237744" cy="237744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877824" y="360273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B3C"/>
                </a:solidFill>
              </a:rPr>
              <a:t>Intégrité des références</a:t>
            </a:r>
            <a:endParaRPr lang="en-US" sz="1100" dirty="0"/>
          </a:p>
        </p:txBody>
      </p:sp>
      <p:sp>
        <p:nvSpPr>
          <p:cNvPr id="28" name="Text 20"/>
          <p:cNvSpPr/>
          <p:nvPr/>
        </p:nvSpPr>
        <p:spPr>
          <a:xfrm>
            <a:off x="877824" y="3803904"/>
            <a:ext cx="3529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8C73"/>
                </a:solidFill>
              </a:rPr>
              <a:t>PASS</a:t>
            </a:r>
            <a:endParaRPr lang="en-US" sz="900" dirty="0"/>
          </a:p>
        </p:txBody>
      </p:sp>
      <p:sp>
        <p:nvSpPr>
          <p:cNvPr id="29" name="Shape 21"/>
          <p:cNvSpPr/>
          <p:nvPr/>
        </p:nvSpPr>
        <p:spPr>
          <a:xfrm>
            <a:off x="411480" y="4059936"/>
            <a:ext cx="41148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4151376"/>
            <a:ext cx="237744" cy="237744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877824" y="4096512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B3C"/>
                </a:solidFill>
              </a:rPr>
              <a:t>Distance cohérente / transport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877824" y="4297680"/>
            <a:ext cx="3529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8B2A"/>
                </a:solidFill>
              </a:rPr>
              <a:t>⚠ voir anomalies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800600" y="124358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B3C"/>
                </a:solidFill>
              </a:rPr>
              <a:t>Anomalies détectées</a:t>
            </a:r>
            <a:endParaRPr lang="en-US" sz="1100" dirty="0"/>
          </a:p>
        </p:txBody>
      </p:sp>
      <p:sp>
        <p:nvSpPr>
          <p:cNvPr id="34" name="Shape 25"/>
          <p:cNvSpPr/>
          <p:nvPr/>
        </p:nvSpPr>
        <p:spPr>
          <a:xfrm>
            <a:off x="4800600" y="1591056"/>
            <a:ext cx="4023360" cy="859536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5" name="Shape 26"/>
          <p:cNvSpPr/>
          <p:nvPr/>
        </p:nvSpPr>
        <p:spPr>
          <a:xfrm>
            <a:off x="4800600" y="1591056"/>
            <a:ext cx="64008" cy="859536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Shape 27"/>
          <p:cNvSpPr/>
          <p:nvPr/>
        </p:nvSpPr>
        <p:spPr>
          <a:xfrm>
            <a:off x="4937760" y="1682496"/>
            <a:ext cx="685800" cy="219456"/>
          </a:xfrm>
          <a:prstGeom prst="roundRect">
            <a:avLst>
              <a:gd name="adj" fmla="val 25000"/>
            </a:avLst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Text 28"/>
          <p:cNvSpPr/>
          <p:nvPr/>
        </p:nvSpPr>
        <p:spPr>
          <a:xfrm>
            <a:off x="4937760" y="1682496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MOYEN</a:t>
            </a:r>
            <a:endParaRPr lang="en-US" sz="750" dirty="0"/>
          </a:p>
        </p:txBody>
      </p:sp>
      <p:sp>
        <p:nvSpPr>
          <p:cNvPr id="38" name="Text 29"/>
          <p:cNvSpPr/>
          <p:nvPr/>
        </p:nvSpPr>
        <p:spPr>
          <a:xfrm>
            <a:off x="8092440" y="1755648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84B31"/>
                </a:solidFill>
              </a:rPr>
              <a:t>3</a:t>
            </a:r>
            <a:endParaRPr lang="en-US" sz="2600" dirty="0"/>
          </a:p>
        </p:txBody>
      </p:sp>
      <p:sp>
        <p:nvSpPr>
          <p:cNvPr id="39" name="Text 30"/>
          <p:cNvSpPr/>
          <p:nvPr/>
        </p:nvSpPr>
        <p:spPr>
          <a:xfrm>
            <a:off x="4937760" y="195681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B3C"/>
                </a:solidFill>
              </a:rPr>
              <a:t>Transport incohérent</a:t>
            </a:r>
            <a:endParaRPr lang="en-US" sz="1100" dirty="0"/>
          </a:p>
        </p:txBody>
      </p:sp>
      <p:sp>
        <p:nvSpPr>
          <p:cNvPr id="40" name="Text 31"/>
          <p:cNvSpPr/>
          <p:nvPr/>
        </p:nvSpPr>
        <p:spPr>
          <a:xfrm>
            <a:off x="4937760" y="21945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Mode actif déclaré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mais distance trop longue</a:t>
            </a:r>
            <a:endParaRPr lang="en-US" sz="950" dirty="0"/>
          </a:p>
        </p:txBody>
      </p:sp>
      <p:sp>
        <p:nvSpPr>
          <p:cNvPr id="41" name="Shape 32"/>
          <p:cNvSpPr/>
          <p:nvPr/>
        </p:nvSpPr>
        <p:spPr>
          <a:xfrm>
            <a:off x="4800600" y="2578608"/>
            <a:ext cx="4023360" cy="859536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2" name="Shape 33"/>
          <p:cNvSpPr/>
          <p:nvPr/>
        </p:nvSpPr>
        <p:spPr>
          <a:xfrm>
            <a:off x="4800600" y="2578608"/>
            <a:ext cx="64008" cy="85953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Shape 34"/>
          <p:cNvSpPr/>
          <p:nvPr/>
        </p:nvSpPr>
        <p:spPr>
          <a:xfrm>
            <a:off x="4937760" y="2670048"/>
            <a:ext cx="685800" cy="219456"/>
          </a:xfrm>
          <a:prstGeom prst="roundRect">
            <a:avLst>
              <a:gd name="adj" fmla="val 25000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35"/>
          <p:cNvSpPr/>
          <p:nvPr/>
        </p:nvSpPr>
        <p:spPr>
          <a:xfrm>
            <a:off x="4937760" y="26700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FAIBLE</a:t>
            </a:r>
            <a:endParaRPr lang="en-US" sz="750" dirty="0"/>
          </a:p>
        </p:txBody>
      </p:sp>
      <p:sp>
        <p:nvSpPr>
          <p:cNvPr id="45" name="Text 36"/>
          <p:cNvSpPr/>
          <p:nvPr/>
        </p:nvSpPr>
        <p:spPr>
          <a:xfrm>
            <a:off x="8092440" y="274320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6B7280"/>
                </a:solidFill>
              </a:rPr>
              <a:t>2</a:t>
            </a:r>
            <a:endParaRPr lang="en-US" sz="2600" dirty="0"/>
          </a:p>
        </p:txBody>
      </p:sp>
      <p:sp>
        <p:nvSpPr>
          <p:cNvPr id="46" name="Text 37"/>
          <p:cNvSpPr/>
          <p:nvPr/>
        </p:nvSpPr>
        <p:spPr>
          <a:xfrm>
            <a:off x="4937760" y="29443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B3C"/>
                </a:solidFill>
              </a:rPr>
              <a:t>Aucune activité</a:t>
            </a:r>
            <a:endParaRPr lang="en-US" sz="1100" dirty="0"/>
          </a:p>
        </p:txBody>
      </p:sp>
      <p:sp>
        <p:nvSpPr>
          <p:cNvPr id="47" name="Text 38"/>
          <p:cNvSpPr/>
          <p:nvPr/>
        </p:nvSpPr>
        <p:spPr>
          <a:xfrm>
            <a:off x="4937760" y="318211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Salarié sans activité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sur la période</a:t>
            </a:r>
            <a:endParaRPr lang="en-US" sz="950" dirty="0"/>
          </a:p>
        </p:txBody>
      </p:sp>
      <p:sp>
        <p:nvSpPr>
          <p:cNvPr id="48" name="Shape 39"/>
          <p:cNvSpPr/>
          <p:nvPr/>
        </p:nvSpPr>
        <p:spPr>
          <a:xfrm>
            <a:off x="4800600" y="3566160"/>
            <a:ext cx="4023360" cy="859536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9" name="Shape 40"/>
          <p:cNvSpPr/>
          <p:nvPr/>
        </p:nvSpPr>
        <p:spPr>
          <a:xfrm>
            <a:off x="4800600" y="3566160"/>
            <a:ext cx="64008" cy="859536"/>
          </a:xfrm>
          <a:prstGeom prst="rect">
            <a:avLst/>
          </a:prstGeom>
          <a:solidFill>
            <a:srgbClr val="1D7EC4"/>
          </a:solidFill>
          <a:ln w="12700">
            <a:solidFill>
              <a:srgbClr val="1D7E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Shape 41"/>
          <p:cNvSpPr/>
          <p:nvPr/>
        </p:nvSpPr>
        <p:spPr>
          <a:xfrm>
            <a:off x="4937760" y="3657600"/>
            <a:ext cx="685800" cy="219456"/>
          </a:xfrm>
          <a:prstGeom prst="roundRect">
            <a:avLst>
              <a:gd name="adj" fmla="val 25000"/>
            </a:avLst>
          </a:prstGeom>
          <a:solidFill>
            <a:srgbClr val="1D7EC4"/>
          </a:solidFill>
          <a:ln w="12700">
            <a:solidFill>
              <a:srgbClr val="1D7E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Text 42"/>
          <p:cNvSpPr/>
          <p:nvPr/>
        </p:nvSpPr>
        <p:spPr>
          <a:xfrm>
            <a:off x="4937760" y="36576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INFO</a:t>
            </a:r>
            <a:endParaRPr lang="en-US" sz="750" dirty="0"/>
          </a:p>
        </p:txBody>
      </p:sp>
      <p:sp>
        <p:nvSpPr>
          <p:cNvPr id="52" name="Text 43"/>
          <p:cNvSpPr/>
          <p:nvPr/>
        </p:nvSpPr>
        <p:spPr>
          <a:xfrm>
            <a:off x="8092440" y="3730752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D7EC4"/>
                </a:solidFill>
              </a:rPr>
              <a:t>7</a:t>
            </a:r>
            <a:endParaRPr lang="en-US" sz="2600" dirty="0"/>
          </a:p>
        </p:txBody>
      </p:sp>
      <p:sp>
        <p:nvSpPr>
          <p:cNvPr id="53" name="Text 44"/>
          <p:cNvSpPr/>
          <p:nvPr/>
        </p:nvSpPr>
        <p:spPr>
          <a:xfrm>
            <a:off x="4937760" y="39319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B3C"/>
                </a:solidFill>
              </a:rPr>
              <a:t>Quasi-éligibles wellness</a:t>
            </a:r>
            <a:endParaRPr lang="en-US" sz="1100" dirty="0"/>
          </a:p>
        </p:txBody>
      </p:sp>
      <p:sp>
        <p:nvSpPr>
          <p:cNvPr id="54" name="Text 45"/>
          <p:cNvSpPr/>
          <p:nvPr/>
        </p:nvSpPr>
        <p:spPr>
          <a:xfrm>
            <a:off x="4937760" y="416966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Entre 12 et 14 activités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(proches du seuil)</a:t>
            </a:r>
            <a:endParaRPr lang="en-US" sz="950" dirty="0"/>
          </a:p>
        </p:txBody>
      </p:sp>
      <p:sp>
        <p:nvSpPr>
          <p:cNvPr id="55" name="Shape 46"/>
          <p:cNvSpPr/>
          <p:nvPr/>
        </p:nvSpPr>
        <p:spPr>
          <a:xfrm>
            <a:off x="411480" y="4617720"/>
            <a:ext cx="8321040" cy="274320"/>
          </a:xfrm>
          <a:prstGeom prst="rect">
            <a:avLst/>
          </a:prstGeom>
          <a:solidFill>
            <a:srgbClr val="EBF5FB"/>
          </a:solidFill>
          <a:ln w="6350">
            <a:solidFill>
              <a:srgbClr val="C8DD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6" name="Text 47"/>
          <p:cNvSpPr/>
          <p:nvPr/>
        </p:nvSpPr>
        <p:spPr>
          <a:xfrm>
            <a:off x="548640" y="4645152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D7EC4"/>
                </a:solidFill>
              </a:rPr>
              <a:t>Tout est tracé dans bronze.audit_log — chaque étape laisse une entrée horodatée (SUCCES ou ERREUR).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0A1F757-EBE9-C63E-3129-70D2E46C99FF}"/>
              </a:ext>
            </a:extLst>
          </p:cNvPr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4004EB1-C2C7-6945-8A4B-B3C4D6FEE246}"/>
              </a:ext>
            </a:extLst>
          </p:cNvPr>
          <p:cNvSpPr/>
          <p:nvPr/>
        </p:nvSpPr>
        <p:spPr>
          <a:xfrm>
            <a:off x="411480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Impact financier</a:t>
            </a:r>
            <a:endParaRPr lang="en-US" sz="1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7C1A6F3-7EFD-11B4-31CB-4DB8F7C133FA}"/>
              </a:ext>
            </a:extLst>
          </p:cNvPr>
          <p:cNvSpPr/>
          <p:nvPr/>
        </p:nvSpPr>
        <p:spPr>
          <a:xfrm>
            <a:off x="411480" y="394599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BEDC"/>
                </a:solidFill>
              </a:rPr>
              <a:t>Simulation multi-scénarios</a:t>
            </a:r>
            <a:endParaRPr lang="en-US" sz="950" dirty="0"/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FB3C6CA2-7514-0A6E-7ABB-2999461F5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45720"/>
            <a:ext cx="640080" cy="576072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57CBEFCC-9166-41C6-34F2-893CE8C6A516}"/>
              </a:ext>
            </a:extLst>
          </p:cNvPr>
          <p:cNvSpPr/>
          <p:nvPr/>
        </p:nvSpPr>
        <p:spPr>
          <a:xfrm>
            <a:off x="8138160" y="48280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</a:rPr>
              <a:t>8 / 10</a:t>
            </a:r>
            <a:endParaRPr lang="en-US" sz="90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E3B8E768-16E5-1DA1-CBD0-F87FCED50FA8}"/>
              </a:ext>
            </a:extLst>
          </p:cNvPr>
          <p:cNvSpPr/>
          <p:nvPr/>
        </p:nvSpPr>
        <p:spPr>
          <a:xfrm>
            <a:off x="320040" y="749808"/>
            <a:ext cx="2034540" cy="877824"/>
          </a:xfrm>
          <a:prstGeom prst="rect">
            <a:avLst/>
          </a:prstGeom>
          <a:solidFill>
            <a:srgbClr val="C98B2A"/>
          </a:solidFill>
          <a:ln w="12700">
            <a:solidFill>
              <a:srgbClr val="C98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B0FB25B6-FFFF-83F2-03CD-6BEA77CD52F5}"/>
              </a:ext>
            </a:extLst>
          </p:cNvPr>
          <p:cNvSpPr/>
          <p:nvPr/>
        </p:nvSpPr>
        <p:spPr>
          <a:xfrm>
            <a:off x="320040" y="786384"/>
            <a:ext cx="20345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260 830 €</a:t>
            </a:r>
            <a:endParaRPr lang="en-US" sz="2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D2C829E6-B5C9-AE05-F562-2B0FF4A24FD3}"/>
              </a:ext>
            </a:extLst>
          </p:cNvPr>
          <p:cNvSpPr/>
          <p:nvPr/>
        </p:nvSpPr>
        <p:spPr>
          <a:xfrm>
            <a:off x="320040" y="1261872"/>
            <a:ext cx="20345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coût total estimé</a:t>
            </a:r>
            <a:endParaRPr lang="en-US" sz="10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59D42304-8896-5F47-F748-E9BC757284D5}"/>
              </a:ext>
            </a:extLst>
          </p:cNvPr>
          <p:cNvSpPr/>
          <p:nvPr/>
        </p:nvSpPr>
        <p:spPr>
          <a:xfrm>
            <a:off x="2446020" y="749808"/>
            <a:ext cx="2034540" cy="877824"/>
          </a:xfrm>
          <a:prstGeom prst="rect">
            <a:avLst/>
          </a:prstGeom>
          <a:solidFill>
            <a:srgbClr val="1A8C73"/>
          </a:solidFill>
          <a:ln w="12700">
            <a:solidFill>
              <a:srgbClr val="1A8C7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8F96CDD1-7B2E-4AD3-CA7C-0349D89D72D3}"/>
              </a:ext>
            </a:extLst>
          </p:cNvPr>
          <p:cNvSpPr/>
          <p:nvPr/>
        </p:nvSpPr>
        <p:spPr>
          <a:xfrm>
            <a:off x="2446020" y="786384"/>
            <a:ext cx="20345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68 / 161</a:t>
            </a:r>
            <a:endParaRPr lang="en-US" sz="20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DFAA5EC2-B31A-ACB7-71A3-AB5A79E22FA3}"/>
              </a:ext>
            </a:extLst>
          </p:cNvPr>
          <p:cNvSpPr/>
          <p:nvPr/>
        </p:nvSpPr>
        <p:spPr>
          <a:xfrm>
            <a:off x="2446020" y="1261872"/>
            <a:ext cx="20345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éligibles prime</a:t>
            </a:r>
            <a:endParaRPr lang="en-US" sz="1000" dirty="0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8E22DBBA-BA51-2B11-02B8-6478DFAC0ADC}"/>
              </a:ext>
            </a:extLst>
          </p:cNvPr>
          <p:cNvSpPr/>
          <p:nvPr/>
        </p:nvSpPr>
        <p:spPr>
          <a:xfrm>
            <a:off x="4572000" y="749808"/>
            <a:ext cx="2034540" cy="877824"/>
          </a:xfrm>
          <a:prstGeom prst="rect">
            <a:avLst/>
          </a:prstGeom>
          <a:solidFill>
            <a:srgbClr val="1D7EC4"/>
          </a:solidFill>
          <a:ln w="12700">
            <a:solidFill>
              <a:srgbClr val="1D7E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D45D8D9-4ED3-3A0D-AB6E-3899086D9F47}"/>
              </a:ext>
            </a:extLst>
          </p:cNvPr>
          <p:cNvSpPr/>
          <p:nvPr/>
        </p:nvSpPr>
        <p:spPr>
          <a:xfrm>
            <a:off x="4572000" y="786384"/>
            <a:ext cx="20345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77 / 161</a:t>
            </a:r>
            <a:endParaRPr lang="en-US" sz="2000" dirty="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68A83DE5-0561-C828-F5E8-C45CD93F86CB}"/>
              </a:ext>
            </a:extLst>
          </p:cNvPr>
          <p:cNvSpPr/>
          <p:nvPr/>
        </p:nvSpPr>
        <p:spPr>
          <a:xfrm>
            <a:off x="4572000" y="1261872"/>
            <a:ext cx="20345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éligibles bien-être</a:t>
            </a:r>
            <a:endParaRPr lang="en-US" sz="1000" dirty="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23AF326E-D3D3-FB83-7375-32FC74C9A09E}"/>
              </a:ext>
            </a:extLst>
          </p:cNvPr>
          <p:cNvSpPr/>
          <p:nvPr/>
        </p:nvSpPr>
        <p:spPr>
          <a:xfrm>
            <a:off x="6697980" y="749808"/>
            <a:ext cx="2034540" cy="87782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8D31899F-F632-D887-8495-0A622D2AD570}"/>
              </a:ext>
            </a:extLst>
          </p:cNvPr>
          <p:cNvSpPr/>
          <p:nvPr/>
        </p:nvSpPr>
        <p:spPr>
          <a:xfrm>
            <a:off x="6697980" y="786384"/>
            <a:ext cx="20345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172 482 €</a:t>
            </a:r>
            <a:endParaRPr lang="en-US" sz="200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C4086833-8760-825C-1312-52B06F4201A2}"/>
              </a:ext>
            </a:extLst>
          </p:cNvPr>
          <p:cNvSpPr/>
          <p:nvPr/>
        </p:nvSpPr>
        <p:spPr>
          <a:xfrm>
            <a:off x="6697980" y="1261872"/>
            <a:ext cx="20345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coût primes seules</a:t>
            </a:r>
            <a:endParaRPr lang="en-US" sz="1000" dirty="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1F8FED38-E62F-C0D7-9ECB-51C62346554C}"/>
              </a:ext>
            </a:extLst>
          </p:cNvPr>
          <p:cNvSpPr/>
          <p:nvPr/>
        </p:nvSpPr>
        <p:spPr>
          <a:xfrm>
            <a:off x="320040" y="18105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B3C"/>
                </a:solidFill>
              </a:rPr>
              <a:t>Éligibles prime par BU</a:t>
            </a:r>
            <a:endParaRPr lang="en-US" sz="110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013E9C59-07A6-3251-BDB0-61297D27D046}"/>
              </a:ext>
            </a:extLst>
          </p:cNvPr>
          <p:cNvSpPr/>
          <p:nvPr/>
        </p:nvSpPr>
        <p:spPr>
          <a:xfrm>
            <a:off x="320040" y="22128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Finance</a:t>
            </a:r>
            <a:endParaRPr lang="en-US" sz="1000" dirty="0"/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F726F67C-4E5C-06AC-1C1C-C8B524FE9023}"/>
              </a:ext>
            </a:extLst>
          </p:cNvPr>
          <p:cNvSpPr/>
          <p:nvPr/>
        </p:nvSpPr>
        <p:spPr>
          <a:xfrm>
            <a:off x="1234440" y="2231136"/>
            <a:ext cx="2286000" cy="201168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042E75-190E-1C1C-17C1-A17D76EA6284}"/>
              </a:ext>
            </a:extLst>
          </p:cNvPr>
          <p:cNvSpPr/>
          <p:nvPr/>
        </p:nvSpPr>
        <p:spPr>
          <a:xfrm>
            <a:off x="1234440" y="2231136"/>
            <a:ext cx="2286000" cy="201168"/>
          </a:xfrm>
          <a:prstGeom prst="rect">
            <a:avLst/>
          </a:prstGeom>
          <a:solidFill>
            <a:srgbClr val="C98B2A"/>
          </a:solidFill>
          <a:ln w="12700">
            <a:solidFill>
              <a:srgbClr val="C98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35DB10F3-E0C2-8F2B-E7FC-9ED46E3C06D8}"/>
              </a:ext>
            </a:extLst>
          </p:cNvPr>
          <p:cNvSpPr/>
          <p:nvPr/>
        </p:nvSpPr>
        <p:spPr>
          <a:xfrm>
            <a:off x="356616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8B2A"/>
                </a:solidFill>
              </a:rPr>
              <a:t>23 salariés</a:t>
            </a:r>
            <a:endParaRPr lang="en-US" sz="100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51189781-4FEA-E316-EC2A-23D81B1EBDD6}"/>
              </a:ext>
            </a:extLst>
          </p:cNvPr>
          <p:cNvSpPr/>
          <p:nvPr/>
        </p:nvSpPr>
        <p:spPr>
          <a:xfrm>
            <a:off x="320040" y="26700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Support</a:t>
            </a:r>
            <a:endParaRPr lang="en-US" sz="1000" dirty="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B399D914-A592-5FE2-D73D-7B657BB8D263}"/>
              </a:ext>
            </a:extLst>
          </p:cNvPr>
          <p:cNvSpPr/>
          <p:nvPr/>
        </p:nvSpPr>
        <p:spPr>
          <a:xfrm>
            <a:off x="1234440" y="2688336"/>
            <a:ext cx="2286000" cy="201168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A62BA114-9601-E94A-1B6D-B00C2AB1D9A8}"/>
              </a:ext>
            </a:extLst>
          </p:cNvPr>
          <p:cNvSpPr/>
          <p:nvPr/>
        </p:nvSpPr>
        <p:spPr>
          <a:xfrm>
            <a:off x="1234440" y="2688336"/>
            <a:ext cx="1485900" cy="201168"/>
          </a:xfrm>
          <a:prstGeom prst="rect">
            <a:avLst/>
          </a:prstGeom>
          <a:solidFill>
            <a:srgbClr val="C98B2A"/>
          </a:solidFill>
          <a:ln w="12700">
            <a:solidFill>
              <a:srgbClr val="C98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E8B99695-A430-4808-6054-52260B36E66B}"/>
              </a:ext>
            </a:extLst>
          </p:cNvPr>
          <p:cNvSpPr/>
          <p:nvPr/>
        </p:nvSpPr>
        <p:spPr>
          <a:xfrm>
            <a:off x="3566160" y="2670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8B2A"/>
                </a:solidFill>
              </a:rPr>
              <a:t>15 salariés</a:t>
            </a:r>
            <a:endParaRPr lang="en-US" sz="1000" dirty="0"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1B33AA95-2C69-3238-E520-61D0D579A843}"/>
              </a:ext>
            </a:extLst>
          </p:cNvPr>
          <p:cNvSpPr/>
          <p:nvPr/>
        </p:nvSpPr>
        <p:spPr>
          <a:xfrm>
            <a:off x="320040" y="31272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Ventes</a:t>
            </a:r>
            <a:endParaRPr lang="en-US" sz="1000" dirty="0"/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88BED65A-8FC2-2564-34AE-732A75D26FDC}"/>
              </a:ext>
            </a:extLst>
          </p:cNvPr>
          <p:cNvSpPr/>
          <p:nvPr/>
        </p:nvSpPr>
        <p:spPr>
          <a:xfrm>
            <a:off x="1234440" y="3145536"/>
            <a:ext cx="2286000" cy="201168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C6CF214A-8B35-F812-28FE-6F2FE6C4D409}"/>
              </a:ext>
            </a:extLst>
          </p:cNvPr>
          <p:cNvSpPr/>
          <p:nvPr/>
        </p:nvSpPr>
        <p:spPr>
          <a:xfrm>
            <a:off x="1234440" y="3145536"/>
            <a:ext cx="1485900" cy="201168"/>
          </a:xfrm>
          <a:prstGeom prst="rect">
            <a:avLst/>
          </a:prstGeom>
          <a:solidFill>
            <a:srgbClr val="C98B2A"/>
          </a:solidFill>
          <a:ln w="12700">
            <a:solidFill>
              <a:srgbClr val="C98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FF20C7D6-56C9-2F73-BDB6-AE94E3C8311C}"/>
              </a:ext>
            </a:extLst>
          </p:cNvPr>
          <p:cNvSpPr/>
          <p:nvPr/>
        </p:nvSpPr>
        <p:spPr>
          <a:xfrm>
            <a:off x="3566160" y="31272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8B2A"/>
                </a:solidFill>
              </a:rPr>
              <a:t>15 salariés</a:t>
            </a:r>
            <a:endParaRPr lang="en-US" sz="1000" dirty="0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B0338948-27A5-0E77-6A1C-1055F4127798}"/>
              </a:ext>
            </a:extLst>
          </p:cNvPr>
          <p:cNvSpPr/>
          <p:nvPr/>
        </p:nvSpPr>
        <p:spPr>
          <a:xfrm>
            <a:off x="320040" y="35844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Marketing</a:t>
            </a:r>
            <a:endParaRPr lang="en-US" sz="1000" dirty="0"/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0D8782CF-A768-23D6-F73F-6BA5ABED294E}"/>
              </a:ext>
            </a:extLst>
          </p:cNvPr>
          <p:cNvSpPr/>
          <p:nvPr/>
        </p:nvSpPr>
        <p:spPr>
          <a:xfrm>
            <a:off x="1234440" y="3602736"/>
            <a:ext cx="2286000" cy="201168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95E24DA1-0423-E0DF-8F7C-0ED2FCCD02A7}"/>
              </a:ext>
            </a:extLst>
          </p:cNvPr>
          <p:cNvSpPr/>
          <p:nvPr/>
        </p:nvSpPr>
        <p:spPr>
          <a:xfrm>
            <a:off x="1234440" y="3602736"/>
            <a:ext cx="982980" cy="201168"/>
          </a:xfrm>
          <a:prstGeom prst="rect">
            <a:avLst/>
          </a:prstGeom>
          <a:solidFill>
            <a:srgbClr val="C98B2A"/>
          </a:solidFill>
          <a:ln w="12700">
            <a:solidFill>
              <a:srgbClr val="C98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ACA59695-BCD0-60E0-ED25-093A6ED62E59}"/>
              </a:ext>
            </a:extLst>
          </p:cNvPr>
          <p:cNvSpPr/>
          <p:nvPr/>
        </p:nvSpPr>
        <p:spPr>
          <a:xfrm>
            <a:off x="3566160" y="35844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8B2A"/>
                </a:solidFill>
              </a:rPr>
              <a:t>10 salariés</a:t>
            </a:r>
            <a:endParaRPr lang="en-US" sz="1000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C3C8A86E-4A81-780A-A5C8-0D5165154327}"/>
              </a:ext>
            </a:extLst>
          </p:cNvPr>
          <p:cNvSpPr/>
          <p:nvPr/>
        </p:nvSpPr>
        <p:spPr>
          <a:xfrm>
            <a:off x="320040" y="40416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R&amp;D</a:t>
            </a:r>
            <a:endParaRPr lang="en-US" sz="1000" dirty="0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1F0C9D49-49E9-04B8-FDBB-655C352CEA82}"/>
              </a:ext>
            </a:extLst>
          </p:cNvPr>
          <p:cNvSpPr/>
          <p:nvPr/>
        </p:nvSpPr>
        <p:spPr>
          <a:xfrm>
            <a:off x="1234440" y="4059936"/>
            <a:ext cx="2286000" cy="201168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FEE29C8D-3522-E605-84A9-02E94AA4E3F6}"/>
              </a:ext>
            </a:extLst>
          </p:cNvPr>
          <p:cNvSpPr/>
          <p:nvPr/>
        </p:nvSpPr>
        <p:spPr>
          <a:xfrm>
            <a:off x="1234440" y="4059936"/>
            <a:ext cx="502920" cy="201168"/>
          </a:xfrm>
          <a:prstGeom prst="rect">
            <a:avLst/>
          </a:prstGeom>
          <a:solidFill>
            <a:srgbClr val="C98B2A"/>
          </a:solidFill>
          <a:ln w="12700">
            <a:solidFill>
              <a:srgbClr val="C98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1A7E8138-675E-8524-F8D8-FC2A7E1E5789}"/>
              </a:ext>
            </a:extLst>
          </p:cNvPr>
          <p:cNvSpPr/>
          <p:nvPr/>
        </p:nvSpPr>
        <p:spPr>
          <a:xfrm>
            <a:off x="3566160" y="40416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8B2A"/>
                </a:solidFill>
              </a:rPr>
              <a:t>5 salariés</a:t>
            </a:r>
            <a:endParaRPr lang="en-US" sz="1000" dirty="0"/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36934DB3-99EF-3E5E-B135-E695F0E34916}"/>
              </a:ext>
            </a:extLst>
          </p:cNvPr>
          <p:cNvSpPr/>
          <p:nvPr/>
        </p:nvSpPr>
        <p:spPr>
          <a:xfrm>
            <a:off x="4754880" y="18105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B3C"/>
                </a:solidFill>
              </a:rPr>
              <a:t>Simulation selon le taux</a:t>
            </a:r>
            <a:endParaRPr lang="en-US" sz="1100" dirty="0"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24057309-5B68-530F-BFC8-95DD392533E0}"/>
              </a:ext>
            </a:extLst>
          </p:cNvPr>
          <p:cNvSpPr/>
          <p:nvPr/>
        </p:nvSpPr>
        <p:spPr>
          <a:xfrm>
            <a:off x="4754880" y="2139696"/>
            <a:ext cx="4114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280"/>
                </a:solidFill>
              </a:rPr>
              <a:t>Juliette peut changer le taux dans Kestra et voir l'impact immédiatement dans PowerBI — sans retoucher le code.</a:t>
            </a:r>
            <a:endParaRPr lang="en-US" sz="1000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387E2D11-2F87-4F9A-A851-D31978A5BAAA}"/>
              </a:ext>
            </a:extLst>
          </p:cNvPr>
          <p:cNvSpPr/>
          <p:nvPr/>
        </p:nvSpPr>
        <p:spPr>
          <a:xfrm>
            <a:off x="4754880" y="2834640"/>
            <a:ext cx="146304" cy="146304"/>
          </a:xfrm>
          <a:prstGeom prst="rect">
            <a:avLst/>
          </a:prstGeom>
          <a:solidFill>
            <a:srgbClr val="1A8C73"/>
          </a:solidFill>
          <a:ln w="12700">
            <a:solidFill>
              <a:srgbClr val="1A8C7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960D3A6D-3D4E-5D65-F665-C1457E92EC28}"/>
              </a:ext>
            </a:extLst>
          </p:cNvPr>
          <p:cNvSpPr/>
          <p:nvPr/>
        </p:nvSpPr>
        <p:spPr>
          <a:xfrm>
            <a:off x="4974336" y="272491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B3C"/>
                </a:solidFill>
              </a:rPr>
              <a:t>v1 — 2,5 %</a:t>
            </a:r>
            <a:endParaRPr lang="en-US" sz="1050" dirty="0"/>
          </a:p>
        </p:txBody>
      </p:sp>
      <p:sp>
        <p:nvSpPr>
          <p:cNvPr id="44" name="Text 41">
            <a:extLst>
              <a:ext uri="{FF2B5EF4-FFF2-40B4-BE49-F238E27FC236}">
                <a16:creationId xmlns:a16="http://schemas.microsoft.com/office/drawing/2014/main" id="{1D0CD772-C807-9D0C-9F40-D0AC64C2F7C6}"/>
              </a:ext>
            </a:extLst>
          </p:cNvPr>
          <p:cNvSpPr/>
          <p:nvPr/>
        </p:nvSpPr>
        <p:spPr>
          <a:xfrm>
            <a:off x="6236208" y="272491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8C73"/>
                </a:solidFill>
              </a:rPr>
              <a:t>86 241 €</a:t>
            </a:r>
            <a:endParaRPr lang="en-US" sz="1050" dirty="0"/>
          </a:p>
        </p:txBody>
      </p:sp>
      <p:sp>
        <p:nvSpPr>
          <p:cNvPr id="45" name="Text 42">
            <a:extLst>
              <a:ext uri="{FF2B5EF4-FFF2-40B4-BE49-F238E27FC236}">
                <a16:creationId xmlns:a16="http://schemas.microsoft.com/office/drawing/2014/main" id="{0488BAD6-6166-CF2F-06C2-7381C254A332}"/>
              </a:ext>
            </a:extLst>
          </p:cNvPr>
          <p:cNvSpPr/>
          <p:nvPr/>
        </p:nvSpPr>
        <p:spPr>
          <a:xfrm>
            <a:off x="7479792" y="272491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B3C"/>
                </a:solidFill>
              </a:rPr>
              <a:t>174 591 €</a:t>
            </a:r>
            <a:endParaRPr lang="en-US" sz="1050" dirty="0"/>
          </a:p>
        </p:txBody>
      </p:sp>
      <p:sp>
        <p:nvSpPr>
          <p:cNvPr id="46" name="Shape 43">
            <a:extLst>
              <a:ext uri="{FF2B5EF4-FFF2-40B4-BE49-F238E27FC236}">
                <a16:creationId xmlns:a16="http://schemas.microsoft.com/office/drawing/2014/main" id="{75B79DBB-D21D-9333-66F4-D4D9BDF3F1F9}"/>
              </a:ext>
            </a:extLst>
          </p:cNvPr>
          <p:cNvSpPr/>
          <p:nvPr/>
        </p:nvSpPr>
        <p:spPr>
          <a:xfrm>
            <a:off x="4663440" y="3246120"/>
            <a:ext cx="4206240" cy="548640"/>
          </a:xfrm>
          <a:prstGeom prst="rect">
            <a:avLst/>
          </a:prstGeom>
          <a:solidFill>
            <a:srgbClr val="EEF6FB"/>
          </a:solidFill>
          <a:ln w="6350">
            <a:solidFill>
              <a:srgbClr val="B8D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722320D5-F960-B5CC-291C-D73B5E57D5C2}"/>
              </a:ext>
            </a:extLst>
          </p:cNvPr>
          <p:cNvSpPr/>
          <p:nvPr/>
        </p:nvSpPr>
        <p:spPr>
          <a:xfrm>
            <a:off x="4754880" y="3401568"/>
            <a:ext cx="146304" cy="146304"/>
          </a:xfrm>
          <a:prstGeom prst="rect">
            <a:avLst/>
          </a:prstGeom>
          <a:solidFill>
            <a:srgbClr val="1D7EC4"/>
          </a:solidFill>
          <a:ln w="12700">
            <a:solidFill>
              <a:srgbClr val="1D7E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48EC0BB4-80CC-EC83-A9C6-826669735F85}"/>
              </a:ext>
            </a:extLst>
          </p:cNvPr>
          <p:cNvSpPr/>
          <p:nvPr/>
        </p:nvSpPr>
        <p:spPr>
          <a:xfrm>
            <a:off x="4974336" y="3291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B3C"/>
                </a:solidFill>
              </a:rPr>
              <a:t>v2 — 5 %</a:t>
            </a:r>
            <a:endParaRPr lang="en-US" sz="1050" dirty="0"/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0AF6FCC0-D7F3-2A35-8060-109A0DA3B2B3}"/>
              </a:ext>
            </a:extLst>
          </p:cNvPr>
          <p:cNvSpPr/>
          <p:nvPr/>
        </p:nvSpPr>
        <p:spPr>
          <a:xfrm>
            <a:off x="6236208" y="3291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D7EC4"/>
                </a:solidFill>
              </a:rPr>
              <a:t>172 482 €</a:t>
            </a:r>
            <a:endParaRPr lang="en-US" sz="1050" dirty="0"/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EBFC4C8A-7D63-33BC-F6C5-C83DDC0F61FE}"/>
              </a:ext>
            </a:extLst>
          </p:cNvPr>
          <p:cNvSpPr/>
          <p:nvPr/>
        </p:nvSpPr>
        <p:spPr>
          <a:xfrm>
            <a:off x="7479792" y="32918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B3C"/>
                </a:solidFill>
              </a:rPr>
              <a:t>260 832 €</a:t>
            </a:r>
            <a:endParaRPr lang="en-US" sz="1050" dirty="0"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07E32D46-841B-06DF-7E20-3420D5B051E6}"/>
              </a:ext>
            </a:extLst>
          </p:cNvPr>
          <p:cNvSpPr/>
          <p:nvPr/>
        </p:nvSpPr>
        <p:spPr>
          <a:xfrm>
            <a:off x="4754880" y="3968496"/>
            <a:ext cx="146304" cy="146304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81B30F0C-2EA3-F122-4A8E-7B7FBFF97FD7}"/>
              </a:ext>
            </a:extLst>
          </p:cNvPr>
          <p:cNvSpPr/>
          <p:nvPr/>
        </p:nvSpPr>
        <p:spPr>
          <a:xfrm>
            <a:off x="4974336" y="385876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B3C"/>
                </a:solidFill>
              </a:rPr>
              <a:t>v3 — 7 %</a:t>
            </a:r>
            <a:endParaRPr lang="en-US" sz="1050" dirty="0"/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B0415C1C-933A-13AE-81BB-A5D24502C495}"/>
              </a:ext>
            </a:extLst>
          </p:cNvPr>
          <p:cNvSpPr/>
          <p:nvPr/>
        </p:nvSpPr>
        <p:spPr>
          <a:xfrm>
            <a:off x="6236208" y="385876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4B31"/>
                </a:solidFill>
              </a:rPr>
              <a:t>241 474 €</a:t>
            </a:r>
            <a:endParaRPr lang="en-US" sz="1050" dirty="0"/>
          </a:p>
        </p:txBody>
      </p:sp>
      <p:sp>
        <p:nvSpPr>
          <p:cNvPr id="54" name="Text 51">
            <a:extLst>
              <a:ext uri="{FF2B5EF4-FFF2-40B4-BE49-F238E27FC236}">
                <a16:creationId xmlns:a16="http://schemas.microsoft.com/office/drawing/2014/main" id="{B1E65FE0-2751-DF85-BD26-552BD8CD6DA1}"/>
              </a:ext>
            </a:extLst>
          </p:cNvPr>
          <p:cNvSpPr/>
          <p:nvPr/>
        </p:nvSpPr>
        <p:spPr>
          <a:xfrm>
            <a:off x="7479792" y="38587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B3C"/>
                </a:solidFill>
              </a:rPr>
              <a:t>329 824 €</a:t>
            </a:r>
            <a:endParaRPr lang="en-US" sz="1050" dirty="0"/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47CFD5C6-DB30-29DD-50F0-FA2A7D951064}"/>
              </a:ext>
            </a:extLst>
          </p:cNvPr>
          <p:cNvSpPr/>
          <p:nvPr/>
        </p:nvSpPr>
        <p:spPr>
          <a:xfrm>
            <a:off x="4754880" y="4480560"/>
            <a:ext cx="4114800" cy="27432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FCFEABC2-72C3-780A-1F5A-B934E8E26211}"/>
              </a:ext>
            </a:extLst>
          </p:cNvPr>
          <p:cNvSpPr/>
          <p:nvPr/>
        </p:nvSpPr>
        <p:spPr>
          <a:xfrm>
            <a:off x="4754880" y="44805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</a:rPr>
              <a:t>Rejeu instantané depuis Kestra si les règles changent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4878562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Démonstration live</a:t>
            </a:r>
            <a:endParaRPr lang="en-US" sz="18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5720"/>
            <a:ext cx="640080" cy="5760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38160" y="48280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</a:rPr>
              <a:t>9 / 10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1480" y="77724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B3C"/>
                </a:solidFill>
              </a:rPr>
              <a:t>2 scénarios à tester en direct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0040" y="1170432"/>
            <a:ext cx="41605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320040" y="1170432"/>
            <a:ext cx="4160520" cy="347472"/>
          </a:xfrm>
          <a:prstGeom prst="rect">
            <a:avLst/>
          </a:prstGeom>
          <a:solidFill>
            <a:srgbClr val="C98B2A"/>
          </a:solidFill>
          <a:ln w="12700">
            <a:solidFill>
              <a:srgbClr val="C98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429768" y="1170432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Démo A — Changer le taux de prime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02920" y="1719072"/>
            <a:ext cx="256032" cy="256032"/>
          </a:xfrm>
          <a:prstGeom prst="ellipse">
            <a:avLst/>
          </a:prstGeom>
          <a:solidFill>
            <a:srgbClr val="C98B2A"/>
          </a:solidFill>
          <a:ln w="12700">
            <a:solidFill>
              <a:srgbClr val="C98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7190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50392" y="1682496"/>
            <a:ext cx="3493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B3C"/>
                </a:solidFill>
              </a:rPr>
              <a:t>Kestra → Flow Rejeu → taux_prime = 2,5 %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02920" y="2377440"/>
            <a:ext cx="256032" cy="256032"/>
          </a:xfrm>
          <a:prstGeom prst="ellipse">
            <a:avLst/>
          </a:prstGeom>
          <a:solidFill>
            <a:srgbClr val="C98B2A"/>
          </a:solidFill>
          <a:ln w="12700">
            <a:solidFill>
              <a:srgbClr val="C98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502920" y="2377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50392" y="2340864"/>
            <a:ext cx="3493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B3C"/>
                </a:solidFill>
              </a:rPr>
              <a:t>KPI recalculés automatiquement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2920" y="3035808"/>
            <a:ext cx="256032" cy="256032"/>
          </a:xfrm>
          <a:prstGeom prst="ellipse">
            <a:avLst/>
          </a:prstGeom>
          <a:solidFill>
            <a:srgbClr val="C98B2A"/>
          </a:solidFill>
          <a:ln w="12700">
            <a:solidFill>
              <a:srgbClr val="C98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502920" y="3035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850392" y="2999232"/>
            <a:ext cx="3493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B3C"/>
                </a:solidFill>
              </a:rPr>
              <a:t>Comparaison v1 (5%) vs v2 (2,5%) visible dans PowerBI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754880" y="1170432"/>
            <a:ext cx="41605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8"/>
          <p:cNvSpPr/>
          <p:nvPr/>
        </p:nvSpPr>
        <p:spPr>
          <a:xfrm>
            <a:off x="4754880" y="1170432"/>
            <a:ext cx="4160520" cy="347472"/>
          </a:xfrm>
          <a:prstGeom prst="rect">
            <a:avLst/>
          </a:prstGeom>
          <a:solidFill>
            <a:srgbClr val="1A8C73"/>
          </a:solidFill>
          <a:ln w="12700">
            <a:solidFill>
              <a:srgbClr val="1A8C7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4864608" y="1170432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Démo B — Injecter une nouvelle activité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937760" y="1719072"/>
            <a:ext cx="256032" cy="256032"/>
          </a:xfrm>
          <a:prstGeom prst="ellipse">
            <a:avLst/>
          </a:prstGeom>
          <a:solidFill>
            <a:srgbClr val="1A8C73"/>
          </a:solidFill>
          <a:ln w="12700">
            <a:solidFill>
              <a:srgbClr val="1A8C7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4937760" y="17190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285232" y="1682496"/>
            <a:ext cx="3493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B3C"/>
                </a:solidFill>
              </a:rPr>
              <a:t>CLI : python produire_activites_redpanda.py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937760" y="2377440"/>
            <a:ext cx="256032" cy="256032"/>
          </a:xfrm>
          <a:prstGeom prst="ellipse">
            <a:avLst/>
          </a:prstGeom>
          <a:solidFill>
            <a:srgbClr val="1A8C73"/>
          </a:solidFill>
          <a:ln w="12700">
            <a:solidFill>
              <a:srgbClr val="1A8C7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4"/>
          <p:cNvSpPr/>
          <p:nvPr/>
        </p:nvSpPr>
        <p:spPr>
          <a:xfrm>
            <a:off x="4937760" y="2377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285232" y="2340864"/>
            <a:ext cx="3493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B3C"/>
                </a:solidFill>
              </a:rPr>
              <a:t>Redpanda reçoit l'événement · Spark traite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937760" y="3035808"/>
            <a:ext cx="256032" cy="256032"/>
          </a:xfrm>
          <a:prstGeom prst="ellipse">
            <a:avLst/>
          </a:prstGeom>
          <a:solidFill>
            <a:srgbClr val="1A8C73"/>
          </a:solidFill>
          <a:ln w="12700">
            <a:solidFill>
              <a:srgbClr val="1A8C7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4937760" y="3035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285232" y="2999232"/>
            <a:ext cx="3493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B3C"/>
                </a:solidFill>
              </a:rPr>
              <a:t>Message Slack envoyé · PowerBI mis à jour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320040" y="4261104"/>
            <a:ext cx="54864" cy="621792"/>
          </a:xfrm>
          <a:prstGeom prst="rect">
            <a:avLst/>
          </a:prstGeom>
          <a:solidFill>
            <a:srgbClr val="4A154B"/>
          </a:solidFill>
          <a:ln w="12700">
            <a:solidFill>
              <a:srgbClr val="4A154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36" name="Image 35">
            <a:extLst>
              <a:ext uri="{FF2B5EF4-FFF2-40B4-BE49-F238E27FC236}">
                <a16:creationId xmlns:a16="http://schemas.microsoft.com/office/drawing/2014/main" id="{F240F53B-CA0E-DF53-4B93-7EE195F613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219526"/>
            <a:ext cx="7927848" cy="70494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Ce qu'on a démontré</a:t>
            </a:r>
            <a:endParaRPr lang="en-US" sz="1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5720"/>
            <a:ext cx="640080" cy="5760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138160" y="48280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</a:rPr>
              <a:t>10 / 10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11480" y="80467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8C73"/>
                </a:solidFill>
              </a:rPr>
              <a:t>Le POC répond aux 3 questions initiales</a:t>
            </a:r>
            <a:endParaRPr lang="en-US" sz="11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243584"/>
            <a:ext cx="237744" cy="2377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9808" y="1207008"/>
            <a:ext cx="3730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B3C"/>
                </a:solidFill>
              </a:rPr>
              <a:t>C'est faisable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49808" y="1444752"/>
            <a:ext cx="3730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Pipeline bout en bout, de l'Excel au dashboard</a:t>
            </a:r>
            <a:endParaRPr lang="en-US" sz="9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810512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49808" y="1773936"/>
            <a:ext cx="3730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B3C"/>
                </a:solidFill>
              </a:rPr>
              <a:t>On sait quelles données</a:t>
            </a:r>
            <a:endParaRPr lang="en-US" sz="1100" dirty="0"/>
          </a:p>
        </p:txBody>
      </p:sp>
      <p:sp>
        <p:nvSpPr>
          <p:cNvPr id="12" name="Text 7"/>
          <p:cNvSpPr/>
          <p:nvPr/>
        </p:nvSpPr>
        <p:spPr>
          <a:xfrm>
            <a:off x="749808" y="2011680"/>
            <a:ext cx="3730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RH + activités + géocodage = tout ce qu'il faut</a:t>
            </a:r>
            <a:endParaRPr lang="en-US" sz="9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2377440"/>
            <a:ext cx="237744" cy="23774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49808" y="2340864"/>
            <a:ext cx="3730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B3C"/>
                </a:solidFill>
              </a:rPr>
              <a:t>L'impact est chiffré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749808" y="2578608"/>
            <a:ext cx="3730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87 420 € pour 47 salariés · simulable en 1 clic</a:t>
            </a:r>
            <a:endParaRPr lang="en-US" sz="95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2944368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749808" y="2907792"/>
            <a:ext cx="3730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B3C"/>
                </a:solidFill>
              </a:rPr>
              <a:t>Qualité garantie</a:t>
            </a:r>
            <a:endParaRPr lang="en-US" sz="1100" dirty="0"/>
          </a:p>
        </p:txBody>
      </p:sp>
      <p:sp>
        <p:nvSpPr>
          <p:cNvPr id="18" name="Text 11"/>
          <p:cNvSpPr/>
          <p:nvPr/>
        </p:nvSpPr>
        <p:spPr>
          <a:xfrm>
            <a:off x="749808" y="3145536"/>
            <a:ext cx="3730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Contrôles auto · quarantaine · audit log complet</a:t>
            </a:r>
            <a:endParaRPr lang="en-US" sz="95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511296"/>
            <a:ext cx="237744" cy="237744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749808" y="3474720"/>
            <a:ext cx="3730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B3C"/>
                </a:solidFill>
              </a:rPr>
              <a:t>Streaming opérationnel</a:t>
            </a:r>
            <a:endParaRPr lang="en-US" sz="1100" dirty="0"/>
          </a:p>
        </p:txBody>
      </p:sp>
      <p:sp>
        <p:nvSpPr>
          <p:cNvPr id="21" name="Text 13"/>
          <p:cNvSpPr/>
          <p:nvPr/>
        </p:nvSpPr>
        <p:spPr>
          <a:xfrm>
            <a:off x="749808" y="3712464"/>
            <a:ext cx="3730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Redpanda + Spark + Slack en temps réel</a:t>
            </a:r>
            <a:endParaRPr lang="en-US" sz="950" dirty="0"/>
          </a:p>
        </p:txBody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078224"/>
            <a:ext cx="237744" cy="237744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749808" y="4041648"/>
            <a:ext cx="3730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B3C"/>
                </a:solidFill>
              </a:rPr>
              <a:t>C'est robuste</a:t>
            </a:r>
            <a:endParaRPr lang="en-US" sz="1100" dirty="0"/>
          </a:p>
        </p:txBody>
      </p:sp>
      <p:sp>
        <p:nvSpPr>
          <p:cNvPr id="24" name="Text 15"/>
          <p:cNvSpPr/>
          <p:nvPr/>
        </p:nvSpPr>
        <p:spPr>
          <a:xfrm>
            <a:off x="749808" y="4279392"/>
            <a:ext cx="3730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Contrôles auto · audit log · Docker Compose</a:t>
            </a:r>
            <a:endParaRPr lang="en-US" sz="950" dirty="0"/>
          </a:p>
        </p:txBody>
      </p:sp>
      <p:sp>
        <p:nvSpPr>
          <p:cNvPr id="25" name="Text 16"/>
          <p:cNvSpPr/>
          <p:nvPr/>
        </p:nvSpPr>
        <p:spPr>
          <a:xfrm>
            <a:off x="4846320" y="80467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8B2A"/>
                </a:solidFill>
              </a:rPr>
              <a:t>Si on passe en production…</a:t>
            </a:r>
            <a:endParaRPr lang="en-US" sz="1100" dirty="0"/>
          </a:p>
        </p:txBody>
      </p:sp>
      <p:sp>
        <p:nvSpPr>
          <p:cNvPr id="26" name="Shape 17"/>
          <p:cNvSpPr/>
          <p:nvPr/>
        </p:nvSpPr>
        <p:spPr>
          <a:xfrm>
            <a:off x="4846320" y="1170432"/>
            <a:ext cx="402336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7" name="Shape 18"/>
          <p:cNvSpPr/>
          <p:nvPr/>
        </p:nvSpPr>
        <p:spPr>
          <a:xfrm>
            <a:off x="4846320" y="1170432"/>
            <a:ext cx="64008" cy="749808"/>
          </a:xfrm>
          <a:prstGeom prst="rect">
            <a:avLst/>
          </a:prstGeom>
          <a:solidFill>
            <a:srgbClr val="C98B2A"/>
          </a:solidFill>
          <a:ln w="12700">
            <a:solidFill>
              <a:srgbClr val="C98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19"/>
          <p:cNvSpPr/>
          <p:nvPr/>
        </p:nvSpPr>
        <p:spPr>
          <a:xfrm>
            <a:off x="5010912" y="126187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B3C"/>
                </a:solidFill>
              </a:rPr>
              <a:t>API Strava réelle</a:t>
            </a:r>
            <a:endParaRPr lang="en-US" sz="1100" dirty="0"/>
          </a:p>
        </p:txBody>
      </p:sp>
      <p:sp>
        <p:nvSpPr>
          <p:cNvPr id="29" name="Text 20"/>
          <p:cNvSpPr/>
          <p:nvPr/>
        </p:nvSpPr>
        <p:spPr>
          <a:xfrm>
            <a:off x="5010912" y="15544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</a:rPr>
              <a:t>Remplacer les données simulées par de vraies activités</a:t>
            </a:r>
            <a:endParaRPr lang="en-US" sz="1000" dirty="0"/>
          </a:p>
        </p:txBody>
      </p:sp>
      <p:sp>
        <p:nvSpPr>
          <p:cNvPr id="30" name="Shape 21"/>
          <p:cNvSpPr/>
          <p:nvPr/>
        </p:nvSpPr>
        <p:spPr>
          <a:xfrm>
            <a:off x="4846320" y="2039112"/>
            <a:ext cx="402336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1" name="Shape 22"/>
          <p:cNvSpPr/>
          <p:nvPr/>
        </p:nvSpPr>
        <p:spPr>
          <a:xfrm>
            <a:off x="4846320" y="2039112"/>
            <a:ext cx="64008" cy="749808"/>
          </a:xfrm>
          <a:prstGeom prst="rect">
            <a:avLst/>
          </a:prstGeom>
          <a:solidFill>
            <a:srgbClr val="C98B2A"/>
          </a:solidFill>
          <a:ln w="12700">
            <a:solidFill>
              <a:srgbClr val="C98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3"/>
          <p:cNvSpPr/>
          <p:nvPr/>
        </p:nvSpPr>
        <p:spPr>
          <a:xfrm>
            <a:off x="5010912" y="213055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B3C"/>
                </a:solidFill>
              </a:rPr>
              <a:t>Cloud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5010912" y="24231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6B7280"/>
                </a:solidFill>
              </a:rPr>
              <a:t>AWS / Azure — DuckDB peut évoluer vers PostgreSQL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4846320" y="2907792"/>
            <a:ext cx="402336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5" name="Shape 26"/>
          <p:cNvSpPr/>
          <p:nvPr/>
        </p:nvSpPr>
        <p:spPr>
          <a:xfrm>
            <a:off x="4846320" y="2907792"/>
            <a:ext cx="64008" cy="749808"/>
          </a:xfrm>
          <a:prstGeom prst="rect">
            <a:avLst/>
          </a:prstGeom>
          <a:solidFill>
            <a:srgbClr val="C98B2A"/>
          </a:solidFill>
          <a:ln w="12700">
            <a:solidFill>
              <a:srgbClr val="C98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27"/>
          <p:cNvSpPr/>
          <p:nvPr/>
        </p:nvSpPr>
        <p:spPr>
          <a:xfrm>
            <a:off x="5010912" y="299923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B3C"/>
                </a:solidFill>
              </a:rPr>
              <a:t>Monitoring Grafana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10912" y="329184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</a:rPr>
              <a:t>Alertes si un pipeline échoue ou ralentit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4846320" y="3776472"/>
            <a:ext cx="402336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9" name="Shape 30"/>
          <p:cNvSpPr/>
          <p:nvPr/>
        </p:nvSpPr>
        <p:spPr>
          <a:xfrm>
            <a:off x="4846320" y="3776472"/>
            <a:ext cx="64008" cy="749808"/>
          </a:xfrm>
          <a:prstGeom prst="rect">
            <a:avLst/>
          </a:prstGeom>
          <a:solidFill>
            <a:srgbClr val="C98B2A"/>
          </a:solidFill>
          <a:ln w="12700">
            <a:solidFill>
              <a:srgbClr val="C98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1"/>
          <p:cNvSpPr/>
          <p:nvPr/>
        </p:nvSpPr>
        <p:spPr>
          <a:xfrm>
            <a:off x="5010912" y="386791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B3C"/>
                </a:solidFill>
              </a:rPr>
              <a:t>Connexion SIRH</a:t>
            </a:r>
            <a:endParaRPr lang="en-US" sz="1100" dirty="0"/>
          </a:p>
        </p:txBody>
      </p:sp>
      <p:sp>
        <p:nvSpPr>
          <p:cNvPr id="41" name="Text 32"/>
          <p:cNvSpPr/>
          <p:nvPr/>
        </p:nvSpPr>
        <p:spPr>
          <a:xfrm>
            <a:off x="5010912" y="416052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</a:rPr>
              <a:t>Sync direct au lieu du fichier Excel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33">
            <a:extLst>
              <a:ext uri="{FF2B5EF4-FFF2-40B4-BE49-F238E27FC236}">
                <a16:creationId xmlns:a16="http://schemas.microsoft.com/office/drawing/2014/main" id="{DC0C038E-E323-9A1B-103F-54225D34A654}"/>
              </a:ext>
            </a:extLst>
          </p:cNvPr>
          <p:cNvSpPr/>
          <p:nvPr/>
        </p:nvSpPr>
        <p:spPr>
          <a:xfrm>
            <a:off x="320040" y="2025396"/>
            <a:ext cx="8503920" cy="1092708"/>
          </a:xfrm>
          <a:prstGeom prst="rect">
            <a:avLst/>
          </a:prstGeom>
          <a:solidFill>
            <a:srgbClr val="1A8C73"/>
          </a:solidFill>
          <a:ln w="12700">
            <a:solidFill>
              <a:srgbClr val="1A8C7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34">
            <a:extLst>
              <a:ext uri="{FF2B5EF4-FFF2-40B4-BE49-F238E27FC236}">
                <a16:creationId xmlns:a16="http://schemas.microsoft.com/office/drawing/2014/main" id="{DF3E7F69-64D0-E6F1-AE7A-38151DF88C76}"/>
              </a:ext>
            </a:extLst>
          </p:cNvPr>
          <p:cNvSpPr/>
          <p:nvPr/>
        </p:nvSpPr>
        <p:spPr>
          <a:xfrm>
            <a:off x="320040" y="2398014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Merci — place à la démonstration et aux questions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8680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1208</Words>
  <Application>Microsoft Office PowerPoint</Application>
  <PresentationFormat>Affichage à l'écran (16:9)</PresentationFormat>
  <Paragraphs>326</Paragraphs>
  <Slides>13</Slides>
  <Notes>9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POC Avantages Sportifs — Sport Data Solution</dc:title>
  <dc:subject>PptxGenJS Presentation</dc:subject>
  <dc:creator>PptxGenJS</dc:creator>
  <cp:lastModifiedBy>Amal CHOUKRI</cp:lastModifiedBy>
  <cp:revision>29</cp:revision>
  <dcterms:created xsi:type="dcterms:W3CDTF">2026-05-29T13:44:17Z</dcterms:created>
  <dcterms:modified xsi:type="dcterms:W3CDTF">2026-06-01T18:16:03Z</dcterms:modified>
</cp:coreProperties>
</file>