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62" r:id="rId10"/>
    <p:sldId id="267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38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0959"/>
            <a:ext cx="1920240" cy="16154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— Avantages Sportifs</a:t>
            </a:r>
            <a:endParaRPr lang="fr-FR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274320" y="278892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7AAFC8"/>
                </a:solidFill>
              </a:rPr>
              <a:t>Pipeline de données automatisé · Calcul des primes · </a:t>
            </a:r>
            <a:r>
              <a:rPr lang="fr-FR" sz="1300" noProof="0" dirty="0" err="1">
                <a:solidFill>
                  <a:srgbClr val="7AAFC8"/>
                </a:solidFill>
              </a:rPr>
              <a:t>Reporting</a:t>
            </a:r>
            <a:r>
              <a:rPr lang="fr-FR" sz="1300" noProof="0" dirty="0">
                <a:solidFill>
                  <a:srgbClr val="7AAFC8"/>
                </a:solidFill>
              </a:rPr>
              <a:t> </a:t>
            </a:r>
            <a:r>
              <a:rPr lang="fr-FR" sz="1300" noProof="0" dirty="0" err="1">
                <a:solidFill>
                  <a:srgbClr val="7AAFC8"/>
                </a:solidFill>
              </a:rPr>
              <a:t>PowerBI</a:t>
            </a:r>
            <a:endParaRPr lang="fr-FR" sz="1300" noProof="0" dirty="0"/>
          </a:p>
        </p:txBody>
      </p:sp>
      <p:sp>
        <p:nvSpPr>
          <p:cNvPr id="6" name="Shape 3"/>
          <p:cNvSpPr/>
          <p:nvPr/>
        </p:nvSpPr>
        <p:spPr>
          <a:xfrm>
            <a:off x="274320" y="3218688"/>
            <a:ext cx="8595360" cy="0"/>
          </a:xfrm>
          <a:prstGeom prst="line">
            <a:avLst/>
          </a:prstGeom>
          <a:noFill/>
          <a:ln w="6350">
            <a:solidFill>
              <a:srgbClr val="2A4B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27432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161</a:t>
            </a:r>
            <a:endParaRPr lang="fr-FR" sz="2600" noProof="0" dirty="0"/>
          </a:p>
        </p:txBody>
      </p:sp>
      <p:sp>
        <p:nvSpPr>
          <p:cNvPr id="8" name="Text 5"/>
          <p:cNvSpPr/>
          <p:nvPr/>
        </p:nvSpPr>
        <p:spPr>
          <a:xfrm>
            <a:off x="27432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salariés</a:t>
            </a:r>
            <a:endParaRPr lang="fr-F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246888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5 %</a:t>
            </a:r>
            <a:endParaRPr lang="fr-FR" sz="2600" noProof="0" dirty="0"/>
          </a:p>
        </p:txBody>
      </p:sp>
      <p:sp>
        <p:nvSpPr>
          <p:cNvPr id="10" name="Text 7"/>
          <p:cNvSpPr/>
          <p:nvPr/>
        </p:nvSpPr>
        <p:spPr>
          <a:xfrm>
            <a:off x="246888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prime sport</a:t>
            </a:r>
            <a:endParaRPr lang="fr-F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466344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5 j</a:t>
            </a:r>
            <a:endParaRPr lang="fr-FR" sz="2600" noProof="0" dirty="0"/>
          </a:p>
        </p:txBody>
      </p:sp>
      <p:sp>
        <p:nvSpPr>
          <p:cNvPr id="12" name="Text 9"/>
          <p:cNvSpPr/>
          <p:nvPr/>
        </p:nvSpPr>
        <p:spPr>
          <a:xfrm>
            <a:off x="466344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bien-être</a:t>
            </a:r>
            <a:endParaRPr lang="fr-FR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≥ 15</a:t>
            </a:r>
            <a:endParaRPr lang="fr-FR" sz="2600" noProof="0" dirty="0"/>
          </a:p>
        </p:txBody>
      </p:sp>
      <p:sp>
        <p:nvSpPr>
          <p:cNvPr id="14" name="Text 11"/>
          <p:cNvSpPr/>
          <p:nvPr/>
        </p:nvSpPr>
        <p:spPr>
          <a:xfrm>
            <a:off x="685800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activités / an</a:t>
            </a:r>
            <a:endParaRPr lang="fr-FR" sz="1100" noProof="0" dirty="0"/>
          </a:p>
        </p:txBody>
      </p:sp>
      <p:sp>
        <p:nvSpPr>
          <p:cNvPr id="15" name="Text 12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900" noProof="0" dirty="0">
                <a:solidFill>
                  <a:srgbClr val="6B7280"/>
                </a:solidFill>
              </a:rPr>
              <a:t>1 / 10</a:t>
            </a:r>
            <a:endParaRPr lang="fr-FR" sz="900" noProof="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DBCC9EA-A729-63F2-6C16-BF5AA96BA54A}"/>
              </a:ext>
            </a:extLst>
          </p:cNvPr>
          <p:cNvSpPr/>
          <p:nvPr/>
        </p:nvSpPr>
        <p:spPr>
          <a:xfrm>
            <a:off x="274320" y="466344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300" dirty="0">
                <a:solidFill>
                  <a:srgbClr val="7AAFC8"/>
                </a:solidFill>
              </a:rPr>
              <a:t>Réalisé </a:t>
            </a:r>
            <a:r>
              <a:rPr lang="fr-FR" sz="1300" noProof="0" dirty="0">
                <a:solidFill>
                  <a:srgbClr val="7AAFC8"/>
                </a:solidFill>
              </a:rPr>
              <a:t>par Amal Choukri</a:t>
            </a:r>
          </a:p>
          <a:p>
            <a:r>
              <a:rPr lang="fr-FR" sz="1300" dirty="0">
                <a:solidFill>
                  <a:srgbClr val="7AAFC8"/>
                </a:solidFill>
              </a:rPr>
              <a:t>Xxxx lien GitHub</a:t>
            </a:r>
            <a:endParaRPr lang="fr-FR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Contexte &amp; mission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 /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8046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B3C"/>
                </a:solidFill>
              </a:rPr>
              <a:t>Juliette, cofondatrice de Sport Data Solution, souhaite récompenser les salariés qui pratiquent une activité sportive régulière — que ce soit pour venir au bureau ou en dehors.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48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3 questions à résoudre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847088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11480" y="1847088"/>
            <a:ext cx="347472" cy="64008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11480" y="1847088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7824" y="1938528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C"/>
                </a:solidFill>
              </a:rPr>
              <a:t>Est-</a:t>
            </a:r>
            <a:r>
              <a:rPr lang="en-US" sz="1200" b="1" dirty="0" err="1">
                <a:solidFill>
                  <a:srgbClr val="1E2B3C"/>
                </a:solidFill>
              </a:rPr>
              <a:t>ce</a:t>
            </a:r>
            <a:r>
              <a:rPr lang="en-US" sz="1200" b="1" dirty="0">
                <a:solidFill>
                  <a:srgbClr val="1E2B3C"/>
                </a:solidFill>
              </a:rPr>
              <a:t> faisable techniquement 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" y="2212848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Collecter, fiabiliser et calculer automatiquement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596896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11480" y="2596896"/>
            <a:ext cx="347472" cy="64008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11480" y="2596896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7824" y="2688336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C"/>
                </a:solidFill>
              </a:rPr>
              <a:t>Quelles données recueillir 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7824" y="2962656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RH, activités sportives, </a:t>
            </a:r>
            <a:r>
              <a:rPr lang="en-US" sz="1000" dirty="0" err="1">
                <a:solidFill>
                  <a:srgbClr val="6B7280"/>
                </a:solidFill>
              </a:rPr>
              <a:t>trajets</a:t>
            </a:r>
            <a:r>
              <a:rPr lang="en-US" sz="1000" dirty="0">
                <a:solidFill>
                  <a:srgbClr val="6B7280"/>
                </a:solidFill>
              </a:rPr>
              <a:t> domicile-bureau,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346704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11480" y="3346704"/>
            <a:ext cx="347472" cy="64008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11480" y="3346704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7824" y="343814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C"/>
                </a:solidFill>
              </a:rPr>
              <a:t>Quel est l'impact financier ?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7824" y="371246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Coût des primes et jours bien-être pour l'entreprise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521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Les 2 avantages étudiés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52160" y="1847088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5852160" y="1847088"/>
            <a:ext cx="2926080" cy="2926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85216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Prime sportive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85216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B2A"/>
                </a:solidFill>
              </a:rPr>
              <a:t>5 %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5852160" y="2670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du salaire brut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pour trajet actif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52160" y="3218688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5852160" y="3218688"/>
            <a:ext cx="2926080" cy="292608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852160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Jours bien-être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8521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8C73"/>
                </a:solidFill>
              </a:rPr>
              <a:t>5 j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5852160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pour ≥ 15 activités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sur 12 mois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9169037C-F9B2-9F66-7915-57225207D5BD}"/>
              </a:ext>
            </a:extLst>
          </p:cNvPr>
          <p:cNvSpPr/>
          <p:nvPr/>
        </p:nvSpPr>
        <p:spPr>
          <a:xfrm>
            <a:off x="411480" y="4133088"/>
            <a:ext cx="5120640" cy="694944"/>
          </a:xfrm>
          <a:prstGeom prst="rect">
            <a:avLst/>
          </a:prstGeom>
          <a:solidFill>
            <a:srgbClr val="EAF3FB"/>
          </a:solidFill>
          <a:ln w="6350">
            <a:solidFill>
              <a:srgbClr val="B8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02E9FA01-0B46-D3D1-FA75-1839A61E1C19}"/>
              </a:ext>
            </a:extLst>
          </p:cNvPr>
          <p:cNvSpPr/>
          <p:nvPr/>
        </p:nvSpPr>
        <p:spPr>
          <a:xfrm>
            <a:off x="411480" y="4133088"/>
            <a:ext cx="347472" cy="694944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0321B5D6-F369-C65F-B0F2-9065506AC453}"/>
              </a:ext>
            </a:extLst>
          </p:cNvPr>
          <p:cNvSpPr/>
          <p:nvPr/>
        </p:nvSpPr>
        <p:spPr>
          <a:xfrm>
            <a:off x="411480" y="4133088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0B244E7F-99F4-B9FE-A1BB-F272B749D00B}"/>
              </a:ext>
            </a:extLst>
          </p:cNvPr>
          <p:cNvSpPr/>
          <p:nvPr/>
        </p:nvSpPr>
        <p:spPr>
          <a:xfrm>
            <a:off x="877824" y="4197096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D7EC4"/>
                </a:solidFill>
              </a:rPr>
              <a:t>RGPD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BE4CDAED-BD93-8005-FE2D-12FAA2020115}"/>
              </a:ext>
            </a:extLst>
          </p:cNvPr>
          <p:cNvSpPr/>
          <p:nvPr/>
        </p:nvSpPr>
        <p:spPr>
          <a:xfrm>
            <a:off x="877824" y="4453128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Données RH sensibles — anonymisation Slack · secrets en variables d'env · aucune donnée personnelle dans les logs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3">
            <a:extLst>
              <a:ext uri="{FF2B5EF4-FFF2-40B4-BE49-F238E27FC236}">
                <a16:creationId xmlns:a16="http://schemas.microsoft.com/office/drawing/2014/main" id="{03D79B0E-62E9-00F0-FC72-2106F73BCA94}"/>
              </a:ext>
            </a:extLst>
          </p:cNvPr>
          <p:cNvSpPr/>
          <p:nvPr/>
        </p:nvSpPr>
        <p:spPr>
          <a:xfrm>
            <a:off x="320040" y="2025396"/>
            <a:ext cx="8503920" cy="1092708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B7CE3C68-0E6E-64A5-D634-3A9C7844B29B}"/>
              </a:ext>
            </a:extLst>
          </p:cNvPr>
          <p:cNvSpPr/>
          <p:nvPr/>
        </p:nvSpPr>
        <p:spPr>
          <a:xfrm>
            <a:off x="320040" y="239801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Choix techniques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6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Architecture technique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20040" y="822960"/>
            <a:ext cx="1353312" cy="274320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20040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4904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Excel RH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Ingestion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DuckDB Bronze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728216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1728216" y="822960"/>
            <a:ext cx="1353312" cy="27432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1728216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Activités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783080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Simulation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Faker / Strava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36392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136392" y="822960"/>
            <a:ext cx="1353312" cy="274320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136392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191256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Qualité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191256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950" dirty="0">
                <a:solidFill>
                  <a:srgbClr val="6B7280"/>
                </a:solidFill>
              </a:rPr>
              <a:t>Données douteuses</a:t>
            </a:r>
          </a:p>
          <a:p>
            <a:pPr algn="ctr"/>
            <a:r>
              <a:rPr lang="en-US" sz="950" dirty="0">
                <a:solidFill>
                  <a:srgbClr val="6B7280"/>
                </a:solidFill>
              </a:rPr>
              <a:t>(distances, dates…)</a:t>
            </a:r>
          </a:p>
        </p:txBody>
      </p:sp>
      <p:sp>
        <p:nvSpPr>
          <p:cNvPr id="25" name="Shape 22"/>
          <p:cNvSpPr/>
          <p:nvPr/>
        </p:nvSpPr>
        <p:spPr>
          <a:xfrm>
            <a:off x="4544568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4544568" y="822960"/>
            <a:ext cx="1353312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544568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99432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Règles métier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99432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Prime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Bien-être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52744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5952744" y="822960"/>
            <a:ext cx="1353312" cy="27432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5952744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07608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Gold / KPI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007608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Financiers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Sportifs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360920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7360920" y="822960"/>
            <a:ext cx="1353312" cy="2743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7360920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415784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PowerBI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415784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3 pages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de reporting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20040" y="2395728"/>
            <a:ext cx="850392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0"/>
          <p:cNvSpPr/>
          <p:nvPr/>
        </p:nvSpPr>
        <p:spPr>
          <a:xfrm>
            <a:off x="320040" y="2542032"/>
            <a:ext cx="54864" cy="402336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448056" y="2551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Entrepôt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48056" y="2743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DuckDB 1.1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3172968" y="2542032"/>
            <a:ext cx="54864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3300984" y="2551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3300984" y="2743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Kestra (4 flows)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025896" y="2542032"/>
            <a:ext cx="54864" cy="402336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7"/>
          <p:cNvSpPr/>
          <p:nvPr/>
        </p:nvSpPr>
        <p:spPr>
          <a:xfrm>
            <a:off x="6153912" y="2551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Streaming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153912" y="2743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Redpanda + Spark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320040" y="3108960"/>
            <a:ext cx="54864" cy="402336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0"/>
          <p:cNvSpPr/>
          <p:nvPr/>
        </p:nvSpPr>
        <p:spPr>
          <a:xfrm>
            <a:off x="448056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48056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Slack Webhook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3172968" y="3108960"/>
            <a:ext cx="54864" cy="402336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/>
          <p:cNvSpPr/>
          <p:nvPr/>
        </p:nvSpPr>
        <p:spPr>
          <a:xfrm>
            <a:off x="3300984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Dashboard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300984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PowerBI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025896" y="3108960"/>
            <a:ext cx="54864" cy="40233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6"/>
          <p:cNvSpPr/>
          <p:nvPr/>
        </p:nvSpPr>
        <p:spPr>
          <a:xfrm>
            <a:off x="6153912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Conteneurs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153912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Docker Compose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9"/>
          <p:cNvSpPr/>
          <p:nvPr/>
        </p:nvSpPr>
        <p:spPr>
          <a:xfrm>
            <a:off x="502920" y="39684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EC4"/>
                </a:solidFill>
              </a:rPr>
              <a:t>Flux live : Activité → Redpanda → Spark → Gold + Slack  (en temps réel)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73352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89704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81528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897880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306056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Modèle de données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4069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9 Tables · Architecture Medallion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82880" y="777240"/>
            <a:ext cx="1920240" cy="25603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82880" y="777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SALARIÉ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03327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2860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2860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429768" y="1078992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id_salarie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56032" y="1271016"/>
            <a:ext cx="1810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nom · prénom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56032" y="1463040"/>
            <a:ext cx="1810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salaire_brut_annuel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56032" y="1655064"/>
            <a:ext cx="1810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mode_transport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28600" y="1865376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228600" y="1865376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29768" y="1847088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transport_eligible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82880" y="2339457"/>
            <a:ext cx="1371600" cy="25603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182880" y="233945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SPORT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82880" y="2595489"/>
            <a:ext cx="13716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228600" y="2659497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228600" y="2659497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429768" y="2641209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id_sport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56032" y="2833233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libelle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56032" y="3025257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categorie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82880" y="3409305"/>
            <a:ext cx="13716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182880" y="3409305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PRATIQUE_SPORTIVE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82880" y="3665337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228600" y="3729345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228600" y="3729345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429768" y="3711057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28600" y="3921369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228600" y="3921369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429768" y="3903081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id_sport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331720" y="777240"/>
            <a:ext cx="2011680" cy="25603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2331720" y="777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ACTIVITÉ_SPORTIVE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331720" y="1033272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237744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237744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2578608" y="10789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id_activite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377440" y="12893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2377440" y="12893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2578608" y="1271016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2377440" y="1481328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2377440" y="148132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47" name="Text 44"/>
          <p:cNvSpPr/>
          <p:nvPr/>
        </p:nvSpPr>
        <p:spPr>
          <a:xfrm>
            <a:off x="2578608" y="1463040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id_sport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404872" y="16550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date_debut / fin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04872" y="18470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distance_m · duree_s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331720" y="2834640"/>
            <a:ext cx="2011680" cy="25603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8"/>
          <p:cNvSpPr/>
          <p:nvPr/>
        </p:nvSpPr>
        <p:spPr>
          <a:xfrm>
            <a:off x="233172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PARAMÈTRE_RÈGLE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2331720" y="3090672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0"/>
          <p:cNvSpPr/>
          <p:nvPr/>
        </p:nvSpPr>
        <p:spPr>
          <a:xfrm>
            <a:off x="2377440" y="31546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1"/>
          <p:cNvSpPr/>
          <p:nvPr/>
        </p:nvSpPr>
        <p:spPr>
          <a:xfrm>
            <a:off x="2377440" y="31546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55" name="Text 52"/>
          <p:cNvSpPr/>
          <p:nvPr/>
        </p:nvSpPr>
        <p:spPr>
          <a:xfrm>
            <a:off x="2578608" y="31363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id_parametre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2404872" y="3328416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version_parametre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2404872" y="3520440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taux_prime (5%)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2404872" y="37124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seuil_wellness (15)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2404872" y="39044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max_km marche / vélo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4572000" y="777240"/>
            <a:ext cx="2011680" cy="25603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8"/>
          <p:cNvSpPr/>
          <p:nvPr/>
        </p:nvSpPr>
        <p:spPr>
          <a:xfrm>
            <a:off x="4572000" y="777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AVANTAGE_CALCULÉ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4572000" y="1033272"/>
            <a:ext cx="20116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0"/>
          <p:cNvSpPr/>
          <p:nvPr/>
        </p:nvSpPr>
        <p:spPr>
          <a:xfrm>
            <a:off x="461772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1"/>
          <p:cNvSpPr/>
          <p:nvPr/>
        </p:nvSpPr>
        <p:spPr>
          <a:xfrm>
            <a:off x="461772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65" name="Text 62"/>
          <p:cNvSpPr/>
          <p:nvPr/>
        </p:nvSpPr>
        <p:spPr>
          <a:xfrm>
            <a:off x="4818888" y="10789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id_avantage_calcule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4617720" y="12893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4"/>
          <p:cNvSpPr/>
          <p:nvPr/>
        </p:nvSpPr>
        <p:spPr>
          <a:xfrm>
            <a:off x="4617720" y="12893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68" name="Text 65"/>
          <p:cNvSpPr/>
          <p:nvPr/>
        </p:nvSpPr>
        <p:spPr>
          <a:xfrm>
            <a:off x="4818888" y="1271016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4617720" y="1481328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7"/>
          <p:cNvSpPr/>
          <p:nvPr/>
        </p:nvSpPr>
        <p:spPr>
          <a:xfrm>
            <a:off x="4617720" y="148132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71" name="Text 68"/>
          <p:cNvSpPr/>
          <p:nvPr/>
        </p:nvSpPr>
        <p:spPr>
          <a:xfrm>
            <a:off x="4818888" y="1463040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id_parametre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645152" y="16550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eligible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645152" y="18470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montant_prime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645152" y="2039112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nb_jours_wellness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4572000" y="2834640"/>
            <a:ext cx="2011680" cy="25603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3"/>
          <p:cNvSpPr/>
          <p:nvPr/>
        </p:nvSpPr>
        <p:spPr>
          <a:xfrm>
            <a:off x="457200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ANOMALIE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572000" y="3090672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5"/>
          <p:cNvSpPr/>
          <p:nvPr/>
        </p:nvSpPr>
        <p:spPr>
          <a:xfrm>
            <a:off x="4617720" y="31546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6"/>
          <p:cNvSpPr/>
          <p:nvPr/>
        </p:nvSpPr>
        <p:spPr>
          <a:xfrm>
            <a:off x="4617720" y="31546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80" name="Text 77"/>
          <p:cNvSpPr/>
          <p:nvPr/>
        </p:nvSpPr>
        <p:spPr>
          <a:xfrm>
            <a:off x="4818888" y="31363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id_anomalie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4617720" y="33467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79"/>
          <p:cNvSpPr/>
          <p:nvPr/>
        </p:nvSpPr>
        <p:spPr>
          <a:xfrm>
            <a:off x="4617720" y="33467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4818888" y="3328416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645152" y="3520440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type_anomalie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645152" y="37124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niveau_gravite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645152" y="39044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statut</a:t>
            </a:r>
            <a:endParaRPr lang="en-US" sz="750" dirty="0"/>
          </a:p>
        </p:txBody>
      </p:sp>
      <p:sp>
        <p:nvSpPr>
          <p:cNvPr id="87" name="Shape 84"/>
          <p:cNvSpPr/>
          <p:nvPr/>
        </p:nvSpPr>
        <p:spPr>
          <a:xfrm>
            <a:off x="6812280" y="777240"/>
            <a:ext cx="2148840" cy="256032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5"/>
          <p:cNvSpPr/>
          <p:nvPr/>
        </p:nvSpPr>
        <p:spPr>
          <a:xfrm>
            <a:off x="6812280" y="7772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MESSAGE_SLACK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6812280" y="1033272"/>
            <a:ext cx="21488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7"/>
          <p:cNvSpPr/>
          <p:nvPr/>
        </p:nvSpPr>
        <p:spPr>
          <a:xfrm>
            <a:off x="685800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8"/>
          <p:cNvSpPr/>
          <p:nvPr/>
        </p:nvSpPr>
        <p:spPr>
          <a:xfrm>
            <a:off x="685800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92" name="Text 89"/>
          <p:cNvSpPr/>
          <p:nvPr/>
        </p:nvSpPr>
        <p:spPr>
          <a:xfrm>
            <a:off x="7059168" y="1078992"/>
            <a:ext cx="1856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id_message</a:t>
            </a:r>
            <a:endParaRPr lang="en-US" sz="750" dirty="0"/>
          </a:p>
        </p:txBody>
      </p:sp>
      <p:sp>
        <p:nvSpPr>
          <p:cNvPr id="93" name="Shape 90"/>
          <p:cNvSpPr/>
          <p:nvPr/>
        </p:nvSpPr>
        <p:spPr>
          <a:xfrm>
            <a:off x="6858000" y="12893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91"/>
          <p:cNvSpPr/>
          <p:nvPr/>
        </p:nvSpPr>
        <p:spPr>
          <a:xfrm>
            <a:off x="6858000" y="12893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95" name="Text 92"/>
          <p:cNvSpPr/>
          <p:nvPr/>
        </p:nvSpPr>
        <p:spPr>
          <a:xfrm>
            <a:off x="7059168" y="1271016"/>
            <a:ext cx="1856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id_activite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6885432" y="146304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contenu · statut_envoi</a:t>
            </a:r>
            <a:endParaRPr lang="en-US" sz="750" dirty="0"/>
          </a:p>
        </p:txBody>
      </p:sp>
      <p:sp>
        <p:nvSpPr>
          <p:cNvPr id="97" name="Shape 94"/>
          <p:cNvSpPr/>
          <p:nvPr/>
        </p:nvSpPr>
        <p:spPr>
          <a:xfrm>
            <a:off x="6812280" y="1993392"/>
            <a:ext cx="21488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Text 95"/>
          <p:cNvSpPr/>
          <p:nvPr/>
        </p:nvSpPr>
        <p:spPr>
          <a:xfrm>
            <a:off x="6812280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Couches DuckDB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6931152" y="2395728"/>
            <a:ext cx="502920" cy="42062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7"/>
          <p:cNvSpPr/>
          <p:nvPr/>
        </p:nvSpPr>
        <p:spPr>
          <a:xfrm>
            <a:off x="6931152" y="239572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BRONZE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7470648" y="2468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3C"/>
                </a:solidFill>
              </a:rPr>
              <a:t>Données brutes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6931152" y="3017520"/>
            <a:ext cx="502920" cy="42062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Text 100"/>
          <p:cNvSpPr/>
          <p:nvPr/>
        </p:nvSpPr>
        <p:spPr>
          <a:xfrm>
            <a:off x="6931152" y="30175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SILVER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470648" y="3090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3C"/>
                </a:solidFill>
              </a:rPr>
              <a:t>Nettoyées · enrichies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6931152" y="3639312"/>
            <a:ext cx="502920" cy="420624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Text 103"/>
          <p:cNvSpPr/>
          <p:nvPr/>
        </p:nvSpPr>
        <p:spPr>
          <a:xfrm>
            <a:off x="6931152" y="36393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GOLD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7470648" y="37124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3C"/>
                </a:solidFill>
              </a:rPr>
              <a:t>KPI · avantages · Slack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3">
            <a:extLst>
              <a:ext uri="{FF2B5EF4-FFF2-40B4-BE49-F238E27FC236}">
                <a16:creationId xmlns:a16="http://schemas.microsoft.com/office/drawing/2014/main" id="{46AB1A79-7D77-498F-ACD2-EB02E0354BBB}"/>
              </a:ext>
            </a:extLst>
          </p:cNvPr>
          <p:cNvSpPr/>
          <p:nvPr/>
        </p:nvSpPr>
        <p:spPr>
          <a:xfrm>
            <a:off x="320040" y="2025396"/>
            <a:ext cx="8503920" cy="1092708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8BA9708E-6FF7-7D18-FD40-377DB7F23627}"/>
              </a:ext>
            </a:extLst>
          </p:cNvPr>
          <p:cNvSpPr/>
          <p:nvPr/>
        </p:nvSpPr>
        <p:spPr>
          <a:xfrm>
            <a:off x="320040" y="239801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Livraison du POC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38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2 avantages &amp; règles de calcul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9184" y="685800"/>
            <a:ext cx="4160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4160520" cy="329184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20040" y="7498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Prime sportive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17043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8B2A"/>
                </a:solidFill>
              </a:rPr>
              <a:t>5 %</a:t>
            </a:r>
            <a:endParaRPr lang="en-US" sz="5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du salaire brut annuel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0292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Conditions 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7094" y="2660904"/>
            <a:ext cx="91440" cy="91440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67512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Venir au bureau à vélo, à pied ou en courant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" y="3100168"/>
            <a:ext cx="91440" cy="91440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67512" y="29626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Distance ≤ 15 km à pied  ·  ≤ 25 km à vélo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7094" y="3502152"/>
            <a:ext cx="91440" cy="91440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67512" y="33832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Mode de transport déclaré et validé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206240"/>
            <a:ext cx="3794760" cy="502920"/>
          </a:xfrm>
          <a:prstGeom prst="rect">
            <a:avLst/>
          </a:prstGeom>
          <a:solidFill>
            <a:srgbClr val="FEF3E2"/>
          </a:solidFill>
          <a:ln w="6350">
            <a:solidFill>
              <a:srgbClr val="F5D5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02920" y="4233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B2A"/>
                </a:solidFill>
              </a:rPr>
              <a:t>Ex : 55 000 € brut  →  prime de 2 750 €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4507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Coût calculé : salaire × 5 %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749808"/>
            <a:ext cx="4160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663440" y="749808"/>
            <a:ext cx="4160520" cy="329184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663440" y="7498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 jours bien-être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46320" y="117043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8C73"/>
                </a:solidFill>
              </a:rPr>
              <a:t>≥ 15</a:t>
            </a:r>
            <a:endParaRPr lang="en-US" sz="5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activités physiques sur 12 mois</a:t>
            </a:r>
            <a:endParaRPr lang="en-US" sz="5200" dirty="0"/>
          </a:p>
        </p:txBody>
      </p:sp>
      <p:sp>
        <p:nvSpPr>
          <p:cNvPr id="25" name="Text 22"/>
          <p:cNvSpPr/>
          <p:nvPr/>
        </p:nvSpPr>
        <p:spPr>
          <a:xfrm>
            <a:off x="484632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Conditions :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55464" y="2688336"/>
            <a:ext cx="91440" cy="91440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010912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Toute activité physique compte (course, vélo, yoga…)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55464" y="3108960"/>
            <a:ext cx="91440" cy="91440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010912" y="29626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Comptage automatique sur les 12 mois glissants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55464" y="3529584"/>
            <a:ext cx="91440" cy="91440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010912" y="33832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Recalcul à chaque nouvelle activité enregistrée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846320" y="4206240"/>
            <a:ext cx="3794760" cy="502920"/>
          </a:xfrm>
          <a:prstGeom prst="rect">
            <a:avLst/>
          </a:prstGeom>
          <a:solidFill>
            <a:srgbClr val="E6F4F1"/>
          </a:solidFill>
          <a:ln w="6350">
            <a:solidFill>
              <a:srgbClr val="8DCF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846320" y="4233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8C73"/>
                </a:solidFill>
              </a:rPr>
              <a:t>Coût = </a:t>
            </a:r>
            <a:r>
              <a:rPr lang="en-US" sz="1000" dirty="0" err="1">
                <a:solidFill>
                  <a:srgbClr val="1A8C73"/>
                </a:solidFill>
              </a:rPr>
              <a:t>salaire</a:t>
            </a:r>
            <a:r>
              <a:rPr lang="en-US" sz="1000" dirty="0">
                <a:solidFill>
                  <a:srgbClr val="1A8C73"/>
                </a:solidFill>
              </a:rPr>
              <a:t> ÷ 220 jours × 5 jours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46320" y="4507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Paramètres modifiables à tout moment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F84460-82FB-619B-9B87-4CB73A442FA6}"/>
              </a:ext>
            </a:extLst>
          </p:cNvPr>
          <p:cNvSpPr/>
          <p:nvPr/>
        </p:nvSpPr>
        <p:spPr>
          <a:xfrm>
            <a:off x="411480" y="4069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Rappel 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Résultats du POC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9768" y="3977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Ce que ce projet apporte concrètement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04672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20040" y="804672"/>
            <a:ext cx="27432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20040" y="9326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</a:rPr>
              <a:t>161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29768" y="16276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salariés analysés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804672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804672"/>
            <a:ext cx="2743200" cy="7315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246120" y="9326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B2A"/>
                </a:solidFill>
              </a:rPr>
              <a:t>68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355848" y="16276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éligibles à la prime sport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804672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6172200" y="804672"/>
            <a:ext cx="2743200" cy="7315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172200" y="9326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8C73"/>
                </a:solidFill>
              </a:rPr>
              <a:t>77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281928" y="16276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éligibles jours bien-être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" y="2249424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20040" y="2249424"/>
            <a:ext cx="2743200" cy="7315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2004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4B31"/>
                </a:solidFill>
              </a:rPr>
              <a:t>260 830 €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29768" y="30723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budget total estimé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46120" y="2249424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3246120" y="2249424"/>
            <a:ext cx="274320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324612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280"/>
                </a:solidFill>
              </a:rPr>
              <a:t>12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3355848" y="30723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anomalies détectées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2200" y="2249424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172200" y="2249424"/>
            <a:ext cx="2743200" cy="7315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617220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7EC4"/>
                </a:solidFill>
              </a:rPr>
              <a:t>100 %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6281928" y="30723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des calculs automatisés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Qualité &amp; fiabilité des données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Avant de calculer, on vérifie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 / 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777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Une prime calculée sur des données incorrectes, c'est un problème RH, financier et technique.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243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Contrôles automatiques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59105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" y="16276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Unicité des salariés et activités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77824" y="182880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1480" y="2084832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17627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" y="21214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Validité des dates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77824" y="2322576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257860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67004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26151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Cohérence des distances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7824" y="2816352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8B2A"/>
                </a:solidFill>
              </a:rPr>
              <a:t>⚠ voir anomalies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11480" y="3072384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6382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7824" y="310896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Types de sport autorisés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77824" y="3310128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11480" y="3566160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5760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7824" y="36027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Intégrité des références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77824" y="3803904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11480" y="405993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15137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77824" y="409651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Distance cohérente / transport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877824" y="429768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8B2A"/>
                </a:solidFill>
              </a:rPr>
              <a:t>⚠ voir anomalies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4800600" y="1243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Anomalies détectées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800600" y="1591056"/>
            <a:ext cx="40233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6"/>
          <p:cNvSpPr/>
          <p:nvPr/>
        </p:nvSpPr>
        <p:spPr>
          <a:xfrm>
            <a:off x="4800600" y="1591056"/>
            <a:ext cx="64008" cy="859536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27"/>
          <p:cNvSpPr/>
          <p:nvPr/>
        </p:nvSpPr>
        <p:spPr>
          <a:xfrm>
            <a:off x="4937760" y="1682496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28"/>
          <p:cNvSpPr/>
          <p:nvPr/>
        </p:nvSpPr>
        <p:spPr>
          <a:xfrm>
            <a:off x="4937760" y="16824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MOYEN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8092440" y="17556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4B31"/>
                </a:solidFill>
              </a:rPr>
              <a:t>3</a:t>
            </a:r>
            <a:endParaRPr lang="en-US" sz="2600" dirty="0"/>
          </a:p>
        </p:txBody>
      </p:sp>
      <p:sp>
        <p:nvSpPr>
          <p:cNvPr id="39" name="Text 30"/>
          <p:cNvSpPr/>
          <p:nvPr/>
        </p:nvSpPr>
        <p:spPr>
          <a:xfrm>
            <a:off x="4937760" y="19568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Transport incohérent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93776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Mode actif déclaré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mais distance trop longue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4800600" y="2578608"/>
            <a:ext cx="40233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33"/>
          <p:cNvSpPr/>
          <p:nvPr/>
        </p:nvSpPr>
        <p:spPr>
          <a:xfrm>
            <a:off x="4800600" y="2578608"/>
            <a:ext cx="64008" cy="85953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34"/>
          <p:cNvSpPr/>
          <p:nvPr/>
        </p:nvSpPr>
        <p:spPr>
          <a:xfrm>
            <a:off x="4937760" y="2670048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5"/>
          <p:cNvSpPr/>
          <p:nvPr/>
        </p:nvSpPr>
        <p:spPr>
          <a:xfrm>
            <a:off x="4937760" y="2670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FAIBLE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8092440" y="27432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</a:rPr>
              <a:t>2</a:t>
            </a:r>
            <a:endParaRPr lang="en-US" sz="2600" dirty="0"/>
          </a:p>
        </p:txBody>
      </p:sp>
      <p:sp>
        <p:nvSpPr>
          <p:cNvPr id="46" name="Text 37"/>
          <p:cNvSpPr/>
          <p:nvPr/>
        </p:nvSpPr>
        <p:spPr>
          <a:xfrm>
            <a:off x="4937760" y="2944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Aucune activité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4937760" y="31821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Salarié sans activité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sur la période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4800600" y="3566160"/>
            <a:ext cx="40233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0"/>
          <p:cNvSpPr/>
          <p:nvPr/>
        </p:nvSpPr>
        <p:spPr>
          <a:xfrm>
            <a:off x="4800600" y="3566160"/>
            <a:ext cx="64008" cy="859536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1"/>
          <p:cNvSpPr/>
          <p:nvPr/>
        </p:nvSpPr>
        <p:spPr>
          <a:xfrm>
            <a:off x="4937760" y="3657600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2"/>
          <p:cNvSpPr/>
          <p:nvPr/>
        </p:nvSpPr>
        <p:spPr>
          <a:xfrm>
            <a:off x="4937760" y="36576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INFO</a:t>
            </a:r>
            <a:endParaRPr lang="en-US" sz="750" dirty="0"/>
          </a:p>
        </p:txBody>
      </p:sp>
      <p:sp>
        <p:nvSpPr>
          <p:cNvPr id="52" name="Text 43"/>
          <p:cNvSpPr/>
          <p:nvPr/>
        </p:nvSpPr>
        <p:spPr>
          <a:xfrm>
            <a:off x="8092440" y="37307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7EC4"/>
                </a:solidFill>
              </a:rPr>
              <a:t>7</a:t>
            </a:r>
            <a:endParaRPr lang="en-US" sz="2600" dirty="0"/>
          </a:p>
        </p:txBody>
      </p:sp>
      <p:sp>
        <p:nvSpPr>
          <p:cNvPr id="53" name="Text 44"/>
          <p:cNvSpPr/>
          <p:nvPr/>
        </p:nvSpPr>
        <p:spPr>
          <a:xfrm>
            <a:off x="4937760" y="3931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Quasi-éligibles wellness</a:t>
            </a:r>
            <a:endParaRPr lang="en-US" sz="1100" dirty="0"/>
          </a:p>
        </p:txBody>
      </p:sp>
      <p:sp>
        <p:nvSpPr>
          <p:cNvPr id="54" name="Text 45"/>
          <p:cNvSpPr/>
          <p:nvPr/>
        </p:nvSpPr>
        <p:spPr>
          <a:xfrm>
            <a:off x="4937760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Entre 12 et 14 activités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(proches du seuil)</a:t>
            </a:r>
            <a:endParaRPr lang="en-US" sz="950" dirty="0"/>
          </a:p>
        </p:txBody>
      </p:sp>
      <p:sp>
        <p:nvSpPr>
          <p:cNvPr id="55" name="Shape 46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solidFill>
            <a:srgbClr val="EBF5FB"/>
          </a:solidFill>
          <a:ln w="635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47"/>
          <p:cNvSpPr/>
          <p:nvPr/>
        </p:nvSpPr>
        <p:spPr>
          <a:xfrm>
            <a:off x="548640" y="46451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EC4"/>
                </a:solidFill>
              </a:rPr>
              <a:t>Tout est tracé dans bronze.audit_log — chaque étape laisse une entrée horodatée (SUCCES ou ERREUR).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A1F757-EBE9-C63E-3129-70D2E46C99FF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004EB1-C2C7-6945-8A4B-B3C4D6FEE246}"/>
              </a:ext>
            </a:extLst>
          </p:cNvPr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Impact financier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1A6F3-7EFD-11B4-31CB-4DB8F7C133FA}"/>
              </a:ext>
            </a:extLst>
          </p:cNvPr>
          <p:cNvSpPr/>
          <p:nvPr/>
        </p:nvSpPr>
        <p:spPr>
          <a:xfrm>
            <a:off x="411480" y="394599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Simulation multi-scénarios</a:t>
            </a:r>
            <a:endParaRPr lang="en-US" sz="9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FB3C6CA2-7514-0A6E-7ABB-2999461F5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7CBEFCC-9166-41C6-34F2-893CE8C6A516}"/>
              </a:ext>
            </a:extLst>
          </p:cNvPr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 / 10</a:t>
            </a:r>
            <a:endParaRPr lang="en-US" sz="9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3B8E768-16E5-1DA1-CBD0-F87FCED50FA8}"/>
              </a:ext>
            </a:extLst>
          </p:cNvPr>
          <p:cNvSpPr/>
          <p:nvPr/>
        </p:nvSpPr>
        <p:spPr>
          <a:xfrm>
            <a:off x="320040" y="749808"/>
            <a:ext cx="2034540" cy="877824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0FB25B6-FFFF-83F2-03CD-6BEA77CD52F5}"/>
              </a:ext>
            </a:extLst>
          </p:cNvPr>
          <p:cNvSpPr/>
          <p:nvPr/>
        </p:nvSpPr>
        <p:spPr>
          <a:xfrm>
            <a:off x="32004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260 830 €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C829E6-B5C9-AE05-F562-2B0FF4A24FD3}"/>
              </a:ext>
            </a:extLst>
          </p:cNvPr>
          <p:cNvSpPr/>
          <p:nvPr/>
        </p:nvSpPr>
        <p:spPr>
          <a:xfrm>
            <a:off x="32004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coût total estimé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9D42304-8896-5F47-F748-E9BC757284D5}"/>
              </a:ext>
            </a:extLst>
          </p:cNvPr>
          <p:cNvSpPr/>
          <p:nvPr/>
        </p:nvSpPr>
        <p:spPr>
          <a:xfrm>
            <a:off x="2446020" y="749808"/>
            <a:ext cx="2034540" cy="877824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F96CDD1-7B2E-4AD3-CA7C-0349D89D72D3}"/>
              </a:ext>
            </a:extLst>
          </p:cNvPr>
          <p:cNvSpPr/>
          <p:nvPr/>
        </p:nvSpPr>
        <p:spPr>
          <a:xfrm>
            <a:off x="244602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68 / 161</a:t>
            </a: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FAA5EC2-B31A-ACB7-71A3-AB5A79E22FA3}"/>
              </a:ext>
            </a:extLst>
          </p:cNvPr>
          <p:cNvSpPr/>
          <p:nvPr/>
        </p:nvSpPr>
        <p:spPr>
          <a:xfrm>
            <a:off x="244602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éligibles prime</a:t>
            </a:r>
            <a:endParaRPr lang="en-US" sz="1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E22DBBA-BA51-2B11-02B8-6478DFAC0ADC}"/>
              </a:ext>
            </a:extLst>
          </p:cNvPr>
          <p:cNvSpPr/>
          <p:nvPr/>
        </p:nvSpPr>
        <p:spPr>
          <a:xfrm>
            <a:off x="4572000" y="749808"/>
            <a:ext cx="2034540" cy="877824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D45D8D9-4ED3-3A0D-AB6E-3899086D9F47}"/>
              </a:ext>
            </a:extLst>
          </p:cNvPr>
          <p:cNvSpPr/>
          <p:nvPr/>
        </p:nvSpPr>
        <p:spPr>
          <a:xfrm>
            <a:off x="457200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77 / 161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8A83DE5-0561-C828-F5E8-C45CD93F86CB}"/>
              </a:ext>
            </a:extLst>
          </p:cNvPr>
          <p:cNvSpPr/>
          <p:nvPr/>
        </p:nvSpPr>
        <p:spPr>
          <a:xfrm>
            <a:off x="457200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éligibles bien-être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3AF326E-D3D3-FB83-7375-32FC74C9A09E}"/>
              </a:ext>
            </a:extLst>
          </p:cNvPr>
          <p:cNvSpPr/>
          <p:nvPr/>
        </p:nvSpPr>
        <p:spPr>
          <a:xfrm>
            <a:off x="6697980" y="749808"/>
            <a:ext cx="2034540" cy="87782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D31899F-F632-D887-8495-0A622D2AD570}"/>
              </a:ext>
            </a:extLst>
          </p:cNvPr>
          <p:cNvSpPr/>
          <p:nvPr/>
        </p:nvSpPr>
        <p:spPr>
          <a:xfrm>
            <a:off x="669798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172 482 €</a:t>
            </a:r>
            <a:endParaRPr lang="en-US" sz="2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4086833-8760-825C-1312-52B06F4201A2}"/>
              </a:ext>
            </a:extLst>
          </p:cNvPr>
          <p:cNvSpPr/>
          <p:nvPr/>
        </p:nvSpPr>
        <p:spPr>
          <a:xfrm>
            <a:off x="669798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coût primes seules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F8FED38-E62F-C0D7-9ECB-51C62346554C}"/>
              </a:ext>
            </a:extLst>
          </p:cNvPr>
          <p:cNvSpPr/>
          <p:nvPr/>
        </p:nvSpPr>
        <p:spPr>
          <a:xfrm>
            <a:off x="320040" y="1810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Éligibles prime par BU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13E9C59-07A6-3251-BDB0-61297D27D046}"/>
              </a:ext>
            </a:extLst>
          </p:cNvPr>
          <p:cNvSpPr/>
          <p:nvPr/>
        </p:nvSpPr>
        <p:spPr>
          <a:xfrm>
            <a:off x="320040" y="2212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Finance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726F67C-4E5C-06AC-1C1C-C8B524FE9023}"/>
              </a:ext>
            </a:extLst>
          </p:cNvPr>
          <p:cNvSpPr/>
          <p:nvPr/>
        </p:nvSpPr>
        <p:spPr>
          <a:xfrm>
            <a:off x="1234440" y="22311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F042E75-190E-1C1C-17C1-A17D76EA6284}"/>
              </a:ext>
            </a:extLst>
          </p:cNvPr>
          <p:cNvSpPr/>
          <p:nvPr/>
        </p:nvSpPr>
        <p:spPr>
          <a:xfrm>
            <a:off x="1234440" y="2231136"/>
            <a:ext cx="228600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5DB10F3-E0C2-8F2B-E7FC-9ED46E3C06D8}"/>
              </a:ext>
            </a:extLst>
          </p:cNvPr>
          <p:cNvSpPr/>
          <p:nvPr/>
        </p:nvSpPr>
        <p:spPr>
          <a:xfrm>
            <a:off x="356616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23 salariés</a:t>
            </a: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1189781-4FEA-E316-EC2A-23D81B1EBDD6}"/>
              </a:ext>
            </a:extLst>
          </p:cNvPr>
          <p:cNvSpPr/>
          <p:nvPr/>
        </p:nvSpPr>
        <p:spPr>
          <a:xfrm>
            <a:off x="320040" y="2670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Support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399D914-A592-5FE2-D73D-7B657BB8D263}"/>
              </a:ext>
            </a:extLst>
          </p:cNvPr>
          <p:cNvSpPr/>
          <p:nvPr/>
        </p:nvSpPr>
        <p:spPr>
          <a:xfrm>
            <a:off x="1234440" y="26883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62BA114-9601-E94A-1B6D-B00C2AB1D9A8}"/>
              </a:ext>
            </a:extLst>
          </p:cNvPr>
          <p:cNvSpPr/>
          <p:nvPr/>
        </p:nvSpPr>
        <p:spPr>
          <a:xfrm>
            <a:off x="1234440" y="2688336"/>
            <a:ext cx="148590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8B99695-A430-4808-6054-52260B36E66B}"/>
              </a:ext>
            </a:extLst>
          </p:cNvPr>
          <p:cNvSpPr/>
          <p:nvPr/>
        </p:nvSpPr>
        <p:spPr>
          <a:xfrm>
            <a:off x="356616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15 salariés</a:t>
            </a:r>
            <a:endParaRPr lang="en-US" sz="1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B33AA95-2C69-3238-E520-61D0D579A843}"/>
              </a:ext>
            </a:extLst>
          </p:cNvPr>
          <p:cNvSpPr/>
          <p:nvPr/>
        </p:nvSpPr>
        <p:spPr>
          <a:xfrm>
            <a:off x="32004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Ventes</a:t>
            </a:r>
            <a:endParaRPr lang="en-US" sz="10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8BED65A-8FC2-2564-34AE-732A75D26FDC}"/>
              </a:ext>
            </a:extLst>
          </p:cNvPr>
          <p:cNvSpPr/>
          <p:nvPr/>
        </p:nvSpPr>
        <p:spPr>
          <a:xfrm>
            <a:off x="1234440" y="31455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6CF214A-8B35-F812-28FE-6F2FE6C4D409}"/>
              </a:ext>
            </a:extLst>
          </p:cNvPr>
          <p:cNvSpPr/>
          <p:nvPr/>
        </p:nvSpPr>
        <p:spPr>
          <a:xfrm>
            <a:off x="1234440" y="3145536"/>
            <a:ext cx="148590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F20C7D6-56C9-2F73-BDB6-AE94E3C8311C}"/>
              </a:ext>
            </a:extLst>
          </p:cNvPr>
          <p:cNvSpPr/>
          <p:nvPr/>
        </p:nvSpPr>
        <p:spPr>
          <a:xfrm>
            <a:off x="356616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15 salariés</a:t>
            </a:r>
            <a:endParaRPr lang="en-US" sz="10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0338948-27A5-0E77-6A1C-1055F4127798}"/>
              </a:ext>
            </a:extLst>
          </p:cNvPr>
          <p:cNvSpPr/>
          <p:nvPr/>
        </p:nvSpPr>
        <p:spPr>
          <a:xfrm>
            <a:off x="320040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Marketing</a:t>
            </a:r>
            <a:endParaRPr lang="en-US" sz="10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D8782CF-A768-23D6-F73F-6BA5ABED294E}"/>
              </a:ext>
            </a:extLst>
          </p:cNvPr>
          <p:cNvSpPr/>
          <p:nvPr/>
        </p:nvSpPr>
        <p:spPr>
          <a:xfrm>
            <a:off x="1234440" y="36027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5E24DA1-0423-E0DF-8F7C-0ED2FCCD02A7}"/>
              </a:ext>
            </a:extLst>
          </p:cNvPr>
          <p:cNvSpPr/>
          <p:nvPr/>
        </p:nvSpPr>
        <p:spPr>
          <a:xfrm>
            <a:off x="1234440" y="3602736"/>
            <a:ext cx="98298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CA59695-BCD0-60E0-ED25-093A6ED62E59}"/>
              </a:ext>
            </a:extLst>
          </p:cNvPr>
          <p:cNvSpPr/>
          <p:nvPr/>
        </p:nvSpPr>
        <p:spPr>
          <a:xfrm>
            <a:off x="356616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10 salariés</a:t>
            </a:r>
            <a:endParaRPr lang="en-US" sz="10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C3C8A86E-4A81-780A-A5C8-0D5165154327}"/>
              </a:ext>
            </a:extLst>
          </p:cNvPr>
          <p:cNvSpPr/>
          <p:nvPr/>
        </p:nvSpPr>
        <p:spPr>
          <a:xfrm>
            <a:off x="320040" y="4041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R&amp;D</a:t>
            </a:r>
            <a:endParaRPr lang="en-US" sz="10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1F0C9D49-49E9-04B8-FDBB-655C352CEA82}"/>
              </a:ext>
            </a:extLst>
          </p:cNvPr>
          <p:cNvSpPr/>
          <p:nvPr/>
        </p:nvSpPr>
        <p:spPr>
          <a:xfrm>
            <a:off x="1234440" y="40599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FEE29C8D-3522-E605-84A9-02E94AA4E3F6}"/>
              </a:ext>
            </a:extLst>
          </p:cNvPr>
          <p:cNvSpPr/>
          <p:nvPr/>
        </p:nvSpPr>
        <p:spPr>
          <a:xfrm>
            <a:off x="1234440" y="4059936"/>
            <a:ext cx="50292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A7E8138-675E-8524-F8D8-FC2A7E1E5789}"/>
              </a:ext>
            </a:extLst>
          </p:cNvPr>
          <p:cNvSpPr/>
          <p:nvPr/>
        </p:nvSpPr>
        <p:spPr>
          <a:xfrm>
            <a:off x="356616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5 salariés</a:t>
            </a:r>
            <a:endParaRPr lang="en-US" sz="10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36934DB3-99EF-3E5E-B135-E695F0E34916}"/>
              </a:ext>
            </a:extLst>
          </p:cNvPr>
          <p:cNvSpPr/>
          <p:nvPr/>
        </p:nvSpPr>
        <p:spPr>
          <a:xfrm>
            <a:off x="4754880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Simulation selon le taux</a:t>
            </a:r>
            <a:endParaRPr lang="en-US" sz="11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24057309-5B68-530F-BFC8-95DD392533E0}"/>
              </a:ext>
            </a:extLst>
          </p:cNvPr>
          <p:cNvSpPr/>
          <p:nvPr/>
        </p:nvSpPr>
        <p:spPr>
          <a:xfrm>
            <a:off x="4754880" y="213969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Juliette peut changer le taux dans Kestra et voir l'impact immédiatement dans PowerBI — sans retoucher le code.</a:t>
            </a:r>
            <a:endParaRPr lang="en-US" sz="10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387E2D11-2F87-4F9A-A851-D31978A5BAAA}"/>
              </a:ext>
            </a:extLst>
          </p:cNvPr>
          <p:cNvSpPr/>
          <p:nvPr/>
        </p:nvSpPr>
        <p:spPr>
          <a:xfrm>
            <a:off x="4754880" y="2834640"/>
            <a:ext cx="146304" cy="146304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60D3A6D-3D4E-5D65-F665-C1457E92EC28}"/>
              </a:ext>
            </a:extLst>
          </p:cNvPr>
          <p:cNvSpPr/>
          <p:nvPr/>
        </p:nvSpPr>
        <p:spPr>
          <a:xfrm>
            <a:off x="4974336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v1 — 2,5 %</a:t>
            </a:r>
            <a:endParaRPr lang="en-US" sz="105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1D0CD772-C807-9D0C-9F40-D0AC64C2F7C6}"/>
              </a:ext>
            </a:extLst>
          </p:cNvPr>
          <p:cNvSpPr/>
          <p:nvPr/>
        </p:nvSpPr>
        <p:spPr>
          <a:xfrm>
            <a:off x="6236208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8C73"/>
                </a:solidFill>
              </a:rPr>
              <a:t>86 241 €</a:t>
            </a:r>
            <a:endParaRPr lang="en-US" sz="1050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0488BAD6-6166-CF2F-06C2-7381C254A332}"/>
              </a:ext>
            </a:extLst>
          </p:cNvPr>
          <p:cNvSpPr/>
          <p:nvPr/>
        </p:nvSpPr>
        <p:spPr>
          <a:xfrm>
            <a:off x="7479792" y="27249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174 591 €</a:t>
            </a:r>
            <a:endParaRPr lang="en-US" sz="1050" dirty="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75B79DBB-D21D-9333-66F4-D4D9BDF3F1F9}"/>
              </a:ext>
            </a:extLst>
          </p:cNvPr>
          <p:cNvSpPr/>
          <p:nvPr/>
        </p:nvSpPr>
        <p:spPr>
          <a:xfrm>
            <a:off x="4663440" y="3246120"/>
            <a:ext cx="4206240" cy="548640"/>
          </a:xfrm>
          <a:prstGeom prst="rect">
            <a:avLst/>
          </a:prstGeom>
          <a:solidFill>
            <a:srgbClr val="EEF6FB"/>
          </a:solidFill>
          <a:ln w="6350">
            <a:solidFill>
              <a:srgbClr val="B8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722320D5-F960-B5CC-291C-D73B5E57D5C2}"/>
              </a:ext>
            </a:extLst>
          </p:cNvPr>
          <p:cNvSpPr/>
          <p:nvPr/>
        </p:nvSpPr>
        <p:spPr>
          <a:xfrm>
            <a:off x="4754880" y="3401568"/>
            <a:ext cx="146304" cy="146304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48EC0BB4-80CC-EC83-A9C6-826669735F85}"/>
              </a:ext>
            </a:extLst>
          </p:cNvPr>
          <p:cNvSpPr/>
          <p:nvPr/>
        </p:nvSpPr>
        <p:spPr>
          <a:xfrm>
            <a:off x="4974336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C"/>
                </a:solidFill>
              </a:rPr>
              <a:t>v2 — 5 %</a:t>
            </a:r>
            <a:endParaRPr lang="en-US" sz="1050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0AF6FCC0-D7F3-2A35-8060-109A0DA3B2B3}"/>
              </a:ext>
            </a:extLst>
          </p:cNvPr>
          <p:cNvSpPr/>
          <p:nvPr/>
        </p:nvSpPr>
        <p:spPr>
          <a:xfrm>
            <a:off x="6236208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7EC4"/>
                </a:solidFill>
              </a:rPr>
              <a:t>172 482 €</a:t>
            </a:r>
            <a:endParaRPr lang="en-US" sz="1050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EBFC4C8A-7D63-33BC-F6C5-C83DDC0F61FE}"/>
              </a:ext>
            </a:extLst>
          </p:cNvPr>
          <p:cNvSpPr/>
          <p:nvPr/>
        </p:nvSpPr>
        <p:spPr>
          <a:xfrm>
            <a:off x="7479792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C"/>
                </a:solidFill>
              </a:rPr>
              <a:t>260 832 €</a:t>
            </a:r>
            <a:endParaRPr lang="en-US" sz="1050" dirty="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07E32D46-841B-06DF-7E20-3420D5B051E6}"/>
              </a:ext>
            </a:extLst>
          </p:cNvPr>
          <p:cNvSpPr/>
          <p:nvPr/>
        </p:nvSpPr>
        <p:spPr>
          <a:xfrm>
            <a:off x="4754880" y="3968496"/>
            <a:ext cx="146304" cy="14630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81B30F0C-2EA3-F122-4A8E-7B7FBFF97FD7}"/>
              </a:ext>
            </a:extLst>
          </p:cNvPr>
          <p:cNvSpPr/>
          <p:nvPr/>
        </p:nvSpPr>
        <p:spPr>
          <a:xfrm>
            <a:off x="4974336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v3 — 7 %</a:t>
            </a:r>
            <a:endParaRPr lang="en-US" sz="1050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B0415C1C-933A-13AE-81BB-A5D24502C495}"/>
              </a:ext>
            </a:extLst>
          </p:cNvPr>
          <p:cNvSpPr/>
          <p:nvPr/>
        </p:nvSpPr>
        <p:spPr>
          <a:xfrm>
            <a:off x="6236208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4B31"/>
                </a:solidFill>
              </a:rPr>
              <a:t>241 474 €</a:t>
            </a:r>
            <a:endParaRPr lang="en-US" sz="1050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1E65FE0-2751-DF85-BD26-552BD8CD6DA1}"/>
              </a:ext>
            </a:extLst>
          </p:cNvPr>
          <p:cNvSpPr/>
          <p:nvPr/>
        </p:nvSpPr>
        <p:spPr>
          <a:xfrm>
            <a:off x="7479792" y="3858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329 824 €</a:t>
            </a:r>
            <a:endParaRPr lang="en-US" sz="105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47CFD5C6-DB30-29DD-50F0-FA2A7D951064}"/>
              </a:ext>
            </a:extLst>
          </p:cNvPr>
          <p:cNvSpPr/>
          <p:nvPr/>
        </p:nvSpPr>
        <p:spPr>
          <a:xfrm>
            <a:off x="4754880" y="4480560"/>
            <a:ext cx="411480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FCFEABC2-72C3-780A-1F5A-B934E8E26211}"/>
              </a:ext>
            </a:extLst>
          </p:cNvPr>
          <p:cNvSpPr/>
          <p:nvPr/>
        </p:nvSpPr>
        <p:spPr>
          <a:xfrm>
            <a:off x="4754880" y="4480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Rejeu instantané depuis Kestra si les règles changent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785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Démonstration live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9 / 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777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C"/>
                </a:solidFill>
              </a:rPr>
              <a:t>2 scénarios à tester en direct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170432"/>
            <a:ext cx="4160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20040" y="1170432"/>
            <a:ext cx="4160520" cy="3474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29768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Démo A — Changer le taux de prime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719072"/>
            <a:ext cx="256032" cy="256032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0392" y="1682496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Kestra → Flow Rejeu → taux_prime = 2,5 %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377440"/>
            <a:ext cx="256032" cy="256032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" y="234086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KPI recalculés automatiquement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035808"/>
            <a:ext cx="256032" cy="256032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0292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0392" y="299923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Comparaison v1 (5%) vs v2 (2,5%) visible dans PowerBI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1170432"/>
            <a:ext cx="4160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754880" y="1170432"/>
            <a:ext cx="4160520" cy="34747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864608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Démo B — Injecter une nouvelle activité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1719072"/>
            <a:ext cx="256032" cy="256032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937760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85232" y="1682496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CLI : python produire_activites_redpanda.py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937760" y="2377440"/>
            <a:ext cx="256032" cy="256032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93776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285232" y="234086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Redpanda reçoit l'événement · Spark traite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37760" y="3035808"/>
            <a:ext cx="256032" cy="256032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93776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85232" y="299923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Message Slack envoyé · PowerBI mis à jour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0040" y="4261104"/>
            <a:ext cx="54864" cy="621792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F240F53B-CA0E-DF53-4B93-7EE195F61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19526"/>
            <a:ext cx="7927848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Ce qu'on a démontré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10 /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73"/>
                </a:solidFill>
              </a:rPr>
              <a:t>Le POC répond aux 3 questions initiales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4358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20700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C'est faisable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9808" y="144475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Pipeline bout en bout, de l'Excel au dashboard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1051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177393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On sait quelles données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749808" y="201168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RH + activités + géocodage = tout ce qu'il faut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7744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234086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L'impact est chiffré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49808" y="257860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87 420 € pour 47 salariés · simulable en 1 clic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4436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" y="290779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Qualité garantie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749808" y="314553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Contrôles auto · quarantaine · audit log complet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11296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9808" y="347472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Streaming opérationnel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49808" y="37124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Redpanda + Spark + Slack en temps réel</a:t>
            </a:r>
            <a:endParaRPr lang="en-US" sz="9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078224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9808" y="404164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C'est robuste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749808" y="427939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12 tests unitaires · versioning · Docker Compose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484632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B2A"/>
                </a:solidFill>
              </a:rPr>
              <a:t>Si on passe en production…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4846320" y="117043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18"/>
          <p:cNvSpPr/>
          <p:nvPr/>
        </p:nvSpPr>
        <p:spPr>
          <a:xfrm>
            <a:off x="4846320" y="117043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19"/>
          <p:cNvSpPr/>
          <p:nvPr/>
        </p:nvSpPr>
        <p:spPr>
          <a:xfrm>
            <a:off x="5010912" y="12618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API Strava réelle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010912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Remplacer les données simulées par de vraies activités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4846320" y="203911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2"/>
          <p:cNvSpPr/>
          <p:nvPr/>
        </p:nvSpPr>
        <p:spPr>
          <a:xfrm>
            <a:off x="4846320" y="203911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3"/>
          <p:cNvSpPr/>
          <p:nvPr/>
        </p:nvSpPr>
        <p:spPr>
          <a:xfrm>
            <a:off x="5010912" y="2130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Cloud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010912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B7280"/>
                </a:solidFill>
              </a:rPr>
              <a:t>AWS / Azure — DuckDB peut évoluer vers PostgreSQL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846320" y="290779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6"/>
          <p:cNvSpPr/>
          <p:nvPr/>
        </p:nvSpPr>
        <p:spPr>
          <a:xfrm>
            <a:off x="4846320" y="290779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27"/>
          <p:cNvSpPr/>
          <p:nvPr/>
        </p:nvSpPr>
        <p:spPr>
          <a:xfrm>
            <a:off x="5010912" y="2999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Monitoring Grafana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10912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Alertes si un pipeline échoue ou ralentit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846320" y="377647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0"/>
          <p:cNvSpPr/>
          <p:nvPr/>
        </p:nvSpPr>
        <p:spPr>
          <a:xfrm>
            <a:off x="4846320" y="377647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1"/>
          <p:cNvSpPr/>
          <p:nvPr/>
        </p:nvSpPr>
        <p:spPr>
          <a:xfrm>
            <a:off x="5010912" y="38679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Connexion SIRH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010912" y="4160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Sync direct au lieu du fichier Excel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3">
            <a:extLst>
              <a:ext uri="{FF2B5EF4-FFF2-40B4-BE49-F238E27FC236}">
                <a16:creationId xmlns:a16="http://schemas.microsoft.com/office/drawing/2014/main" id="{DC0C038E-E323-9A1B-103F-54225D34A654}"/>
              </a:ext>
            </a:extLst>
          </p:cNvPr>
          <p:cNvSpPr/>
          <p:nvPr/>
        </p:nvSpPr>
        <p:spPr>
          <a:xfrm>
            <a:off x="320040" y="2025396"/>
            <a:ext cx="8503920" cy="1092708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DF3E7F69-64D0-E6F1-AE7A-38151DF88C76}"/>
              </a:ext>
            </a:extLst>
          </p:cNvPr>
          <p:cNvSpPr/>
          <p:nvPr/>
        </p:nvSpPr>
        <p:spPr>
          <a:xfrm>
            <a:off x="320040" y="239801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Merci — place à la démonstration et aux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68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1051</Words>
  <Application>Microsoft Office PowerPoint</Application>
  <PresentationFormat>Affichage à l'écran (16:9)</PresentationFormat>
  <Paragraphs>307</Paragraphs>
  <Slides>13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Avantages Sportifs — Sport Data Solution</dc:title>
  <dc:subject>PptxGenJS Presentation</dc:subject>
  <dc:creator>PptxGenJS</dc:creator>
  <cp:lastModifiedBy>Amal CHOUKRI</cp:lastModifiedBy>
  <cp:revision>27</cp:revision>
  <dcterms:created xsi:type="dcterms:W3CDTF">2026-05-29T13:44:17Z</dcterms:created>
  <dcterms:modified xsi:type="dcterms:W3CDTF">2026-05-29T15:09:33Z</dcterms:modified>
</cp:coreProperties>
</file>